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6685C-02E4-4640-BB1D-B2AAAE650F26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B74E8-F676-445A-B81C-1BD72A56A4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오라클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일차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조인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01056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1) </a:t>
            </a:r>
            <a:r>
              <a:rPr lang="ko-KR" altLang="en-US" b="1" dirty="0" smtClean="0"/>
              <a:t>조인의 필요성</a:t>
            </a:r>
          </a:p>
          <a:p>
            <a:r>
              <a:rPr lang="ko-KR" altLang="en-US" sz="1400" dirty="0" smtClean="0"/>
              <a:t>    </a:t>
            </a:r>
            <a:r>
              <a:rPr lang="en-US" altLang="ko-KR" sz="1400" dirty="0" smtClean="0">
                <a:sym typeface="Wingdings" pitchFamily="2" charset="2"/>
              </a:rPr>
              <a:t> </a:t>
            </a:r>
            <a:r>
              <a:rPr lang="ko-KR" altLang="en-US" sz="1400" dirty="0" err="1" smtClean="0"/>
              <a:t>오라클은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관계형</a:t>
            </a:r>
            <a:r>
              <a:rPr lang="ko-KR" altLang="en-US" sz="1400" dirty="0" smtClean="0"/>
              <a:t> 데이터베이스인데 모든 정보들이 하나의 테이블에 몰려 있는 것이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</a:t>
            </a:r>
            <a:r>
              <a:rPr lang="ko-KR" altLang="en-US" sz="1400" dirty="0" smtClean="0"/>
              <a:t>아니라 여러 테이블에 정규화 되어 분산되어 있다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따라서 각 테이블끼리는 서로 특정한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</a:t>
            </a:r>
            <a:r>
              <a:rPr lang="ko-KR" altLang="en-US" sz="1400" dirty="0" smtClean="0"/>
              <a:t>규칙이나 관계가 있도록 설계되어 있다</a:t>
            </a:r>
            <a:r>
              <a:rPr lang="en-US" altLang="ko-KR" sz="1400" dirty="0" smtClean="0"/>
              <a:t>.</a:t>
            </a:r>
          </a:p>
          <a:p>
            <a:r>
              <a:rPr lang="ko-KR" altLang="en-US" sz="1400" dirty="0" smtClean="0"/>
              <a:t>    </a:t>
            </a:r>
            <a:r>
              <a:rPr lang="en-US" altLang="ko-KR" sz="1400" dirty="0" smtClean="0">
                <a:sym typeface="Wingdings" pitchFamily="2" charset="2"/>
              </a:rPr>
              <a:t> </a:t>
            </a:r>
            <a:r>
              <a:rPr lang="ko-KR" altLang="en-US" sz="1400" dirty="0" smtClean="0"/>
              <a:t>데이터가 여러 곳에 흩어져 있기 때문에 사용자가 원하는 데이터를 모두 찾으려면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</a:t>
            </a:r>
            <a:r>
              <a:rPr lang="ko-KR" altLang="en-US" sz="1400" dirty="0" smtClean="0"/>
              <a:t>여러 테이블을 다 조회해야 한다</a:t>
            </a:r>
            <a:r>
              <a:rPr lang="en-US" altLang="ko-KR" sz="1400" dirty="0" smtClean="0"/>
              <a:t>. </a:t>
            </a:r>
            <a:r>
              <a:rPr lang="ko-KR" altLang="en-US" sz="1400" b="1" dirty="0" smtClean="0"/>
              <a:t>그래서 등장한 기술이 </a:t>
            </a:r>
            <a:r>
              <a:rPr lang="en-US" altLang="ko-KR" sz="1400" b="1" dirty="0" smtClean="0"/>
              <a:t>JOIN</a:t>
            </a:r>
            <a:r>
              <a:rPr lang="ko-KR" altLang="en-US" sz="1400" b="1" dirty="0" smtClean="0"/>
              <a:t>이다</a:t>
            </a:r>
            <a:r>
              <a:rPr lang="en-US" altLang="ko-KR" sz="1400" b="1" dirty="0" smtClean="0"/>
              <a:t>.</a:t>
            </a:r>
            <a:endParaRPr lang="en-US" altLang="ko-KR" sz="1400" b="1" dirty="0"/>
          </a:p>
          <a:p>
            <a:r>
              <a:rPr lang="en-US" altLang="ko-KR" sz="1400" b="1" dirty="0"/>
              <a:t> </a:t>
            </a:r>
            <a:r>
              <a:rPr lang="en-US" altLang="ko-KR" sz="1400" b="1" dirty="0" smtClean="0"/>
              <a:t>   </a:t>
            </a:r>
            <a:r>
              <a:rPr lang="en-US" altLang="ko-KR" sz="1400" b="1" dirty="0" smtClean="0">
                <a:sym typeface="Wingdings" pitchFamily="2" charset="2"/>
              </a:rPr>
              <a:t> </a:t>
            </a:r>
            <a:r>
              <a:rPr lang="en-US" altLang="ko-KR" sz="1400" dirty="0" smtClean="0"/>
              <a:t>JOIN</a:t>
            </a:r>
          </a:p>
          <a:p>
            <a:pPr lvl="1"/>
            <a:r>
              <a:rPr lang="ko-KR" altLang="en-US" sz="1400" dirty="0" smtClean="0"/>
              <a:t>  여러 테이블에 흩어져 있는 정보 중에서 사용자가 필요한 정보만 가져와서 </a:t>
            </a:r>
            <a:endParaRPr lang="en-US" altLang="ko-KR" sz="1400" dirty="0" smtClean="0"/>
          </a:p>
          <a:p>
            <a:pPr lvl="1"/>
            <a:r>
              <a:rPr lang="en-US" altLang="ko-KR" sz="1400" dirty="0"/>
              <a:t> 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가상의 테이블처럼 만들어서 결과를 보여준다</a:t>
            </a:r>
            <a:r>
              <a:rPr lang="en-US" altLang="ko-KR" sz="1400" dirty="0" smtClean="0"/>
              <a:t>.</a:t>
            </a:r>
          </a:p>
          <a:p>
            <a:pPr lvl="1"/>
            <a:r>
              <a:rPr lang="ko-KR" altLang="en-US" sz="1400" dirty="0" smtClean="0"/>
              <a:t>  예를 들어 사원테이블에서 이름을 가져오고 부서테이블에서 부서명만을 가져와서 </a:t>
            </a:r>
            <a:endParaRPr lang="en-US" altLang="ko-KR" sz="1400" dirty="0" smtClean="0"/>
          </a:p>
          <a:p>
            <a:pPr lvl="1"/>
            <a:r>
              <a:rPr lang="en-US" altLang="ko-KR" sz="1400" dirty="0"/>
              <a:t> 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새로운 결과를 도출하는 것이 </a:t>
            </a:r>
            <a:r>
              <a:rPr lang="en-US" altLang="ko-KR" sz="1400" dirty="0" smtClean="0"/>
              <a:t>JOIN</a:t>
            </a:r>
            <a:r>
              <a:rPr lang="ko-KR" altLang="en-US" sz="1400" dirty="0" smtClean="0"/>
              <a:t>이다</a:t>
            </a:r>
            <a:r>
              <a:rPr lang="en-US" altLang="ko-KR" sz="1400" dirty="0" smtClean="0"/>
              <a:t>. </a:t>
            </a:r>
          </a:p>
          <a:p>
            <a:endParaRPr lang="ko-KR" altLang="en-US" dirty="0" smtClean="0"/>
          </a:p>
          <a:p>
            <a:endParaRPr lang="ko-KR" altLang="en-US" dirty="0"/>
          </a:p>
        </p:txBody>
      </p:sp>
      <p:pic>
        <p:nvPicPr>
          <p:cNvPr id="1026" name="Picture 2" descr="https://wikidocs.net/images/page/3957/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3214686"/>
            <a:ext cx="6515100" cy="2990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5720" y="214290"/>
            <a:ext cx="850112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조인의 종류 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dirty="0" smtClean="0"/>
          </a:p>
          <a:p>
            <a:pPr lvl="0">
              <a:buFont typeface="Wingdings"/>
              <a:buChar char="è"/>
            </a:pPr>
            <a:r>
              <a:rPr lang="ko-KR" altLang="en-US" sz="1600" b="1" dirty="0" smtClean="0"/>
              <a:t> </a:t>
            </a:r>
            <a:r>
              <a:rPr lang="en-US" altLang="ko-KR" sz="1600" b="1" dirty="0" smtClean="0"/>
              <a:t>EUQI_JOIN</a:t>
            </a:r>
          </a:p>
          <a:p>
            <a:pPr lvl="0"/>
            <a:endParaRPr lang="en-US" altLang="ko-KR" sz="1400" dirty="0" smtClean="0"/>
          </a:p>
          <a:p>
            <a:pPr lvl="0"/>
            <a:r>
              <a:rPr lang="en-US" altLang="ko-KR" sz="1400" dirty="0" smtClean="0"/>
              <a:t>    </a:t>
            </a:r>
            <a:r>
              <a:rPr lang="ko-KR" altLang="en-US" sz="1400" dirty="0" smtClean="0"/>
              <a:t>조인 대상이 되는 두 테이블에서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공통적으로 존재하는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컬럼의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값이 일치되는   행을 연결</a:t>
            </a:r>
            <a:r>
              <a:rPr lang="ko-KR" altLang="en-US" sz="1400" dirty="0" smtClean="0"/>
              <a:t>하여 </a:t>
            </a:r>
            <a:endParaRPr lang="en-US" altLang="ko-KR" sz="1400" dirty="0" smtClean="0"/>
          </a:p>
          <a:p>
            <a:pPr lvl="0"/>
            <a:r>
              <a:rPr lang="en-US" altLang="ko-KR" sz="1400" dirty="0" smtClean="0"/>
              <a:t>    </a:t>
            </a:r>
            <a:r>
              <a:rPr lang="ko-KR" altLang="en-US" sz="1400" dirty="0" smtClean="0"/>
              <a:t>결과를 생성하는 조인 기법이다</a:t>
            </a:r>
            <a:r>
              <a:rPr lang="en-US" sz="1400" dirty="0" smtClean="0"/>
              <a:t>.</a:t>
            </a:r>
          </a:p>
          <a:p>
            <a:pPr lvl="0"/>
            <a:endParaRPr lang="en-US" sz="1400" dirty="0" smtClean="0"/>
          </a:p>
          <a:p>
            <a:pPr lvl="0"/>
            <a:r>
              <a:rPr lang="en-US" sz="1400" dirty="0" smtClean="0"/>
              <a:t>    </a:t>
            </a:r>
            <a:r>
              <a:rPr lang="ko-KR" altLang="en-US" sz="1400" dirty="0" smtClean="0"/>
              <a:t>예</a:t>
            </a:r>
            <a:r>
              <a:rPr lang="en-US" sz="1400" dirty="0" smtClean="0"/>
              <a:t>) </a:t>
            </a:r>
            <a:r>
              <a:rPr lang="ko-KR" altLang="en-US" sz="1400" dirty="0" smtClean="0"/>
              <a:t>사원 정보를 출력할 때</a:t>
            </a:r>
            <a:r>
              <a:rPr lang="en-US" sz="1400" dirty="0" smtClean="0"/>
              <a:t>, </a:t>
            </a:r>
            <a:r>
              <a:rPr lang="ko-KR" altLang="en-US" sz="1400" dirty="0" smtClean="0"/>
              <a:t>각 사원이 소속된 부서의 상세 정보를 출력하기 위해 두 개의 테이블을 </a:t>
            </a:r>
            <a:endParaRPr lang="en-US" altLang="ko-KR" sz="1400" dirty="0" smtClean="0"/>
          </a:p>
          <a:p>
            <a:pPr lvl="0"/>
            <a:r>
              <a:rPr lang="en-US" altLang="ko-KR" sz="1400" dirty="0" smtClean="0"/>
              <a:t>         </a:t>
            </a:r>
            <a:r>
              <a:rPr lang="ko-KR" altLang="en-US" sz="1400" dirty="0" smtClean="0"/>
              <a:t>조인하는 </a:t>
            </a:r>
            <a:r>
              <a:rPr lang="ko-KR" altLang="en-US" sz="1400" dirty="0" err="1" smtClean="0"/>
              <a:t>쿼리문</a:t>
            </a:r>
            <a:endParaRPr lang="en-US" sz="1400" dirty="0" smtClean="0"/>
          </a:p>
          <a:p>
            <a:pPr lvl="0"/>
            <a:r>
              <a:rPr lang="en-US" altLang="ko-KR" sz="1400" dirty="0" smtClean="0"/>
              <a:t>    </a:t>
            </a:r>
          </a:p>
          <a:p>
            <a:pPr lvl="0"/>
            <a:r>
              <a:rPr lang="en-US" altLang="ko-KR" sz="14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sz="14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SQL&gt; SELECT * FROM EMP, DEPT WHERE EMP.DEPTNO = DEPT.DEPTNO;</a:t>
            </a:r>
            <a:endParaRPr lang="ko-KR" altLang="en-US" sz="1400" dirty="0" smtClean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ko-KR" altLang="en-US" dirty="0"/>
          </a:p>
        </p:txBody>
      </p:sp>
      <p:pic>
        <p:nvPicPr>
          <p:cNvPr id="5" name="그림 4" descr="https://wikidocs.net/images/page/3958/4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000372"/>
            <a:ext cx="8001056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42910" y="6072206"/>
            <a:ext cx="8143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 DEPTNO</a:t>
            </a:r>
            <a:r>
              <a:rPr lang="ko-KR" altLang="en-US" sz="1400" dirty="0" smtClean="0"/>
              <a:t>를 보면 조인 대상이 되는 테이블에 공통적으로 존재하는 </a:t>
            </a:r>
            <a:r>
              <a:rPr lang="ko-KR" altLang="en-US" sz="1400" b="1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컬럼들과</a:t>
            </a:r>
            <a:r>
              <a:rPr lang="ko-KR" alt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동일한 조건</a:t>
            </a:r>
            <a:r>
              <a:rPr 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(=</a:t>
            </a:r>
            <a:r>
              <a:rPr lang="en-US" sz="1400" dirty="0" smtClean="0"/>
              <a:t>)</a:t>
            </a:r>
            <a:r>
              <a:rPr lang="ko-KR" altLang="en-US" sz="1400" dirty="0" smtClean="0"/>
              <a:t>으로 조인하여 원하는 결과를 얻게 되는 것이다</a:t>
            </a:r>
            <a:r>
              <a:rPr lang="en-US" sz="1400" dirty="0" smtClean="0"/>
              <a:t>.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0034" y="214290"/>
            <a:ext cx="80724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특정 </a:t>
            </a:r>
            <a:r>
              <a:rPr lang="ko-KR" altLang="en-US" sz="1400" dirty="0" err="1" smtClean="0"/>
              <a:t>컬럼의</a:t>
            </a:r>
            <a:r>
              <a:rPr lang="ko-KR" altLang="en-US" sz="1400" dirty="0" smtClean="0"/>
              <a:t> 정보만 얻는 </a:t>
            </a:r>
            <a:r>
              <a:rPr lang="ko-KR" altLang="en-US" sz="1400" dirty="0" err="1" smtClean="0"/>
              <a:t>쿼리문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sz="1400" dirty="0" smtClean="0"/>
              <a:t>SQL&gt; SELECT ENAME, DNAME FROM EMP, DEPT WHERE EMP.DEPTNO = DEPT.DEPTNO;</a:t>
            </a:r>
            <a:endParaRPr lang="ko-KR" altLang="en-US" sz="1400" dirty="0"/>
          </a:p>
        </p:txBody>
      </p:sp>
      <p:pic>
        <p:nvPicPr>
          <p:cNvPr id="8" name="그림 7" descr="https://wikidocs.net/images/page/3958/5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214422"/>
            <a:ext cx="8001056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0034" y="214290"/>
            <a:ext cx="80724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/>
            <a:r>
              <a:rPr lang="ko-KR" altLang="en-US" sz="1400" dirty="0" smtClean="0"/>
              <a:t>예</a:t>
            </a:r>
            <a:r>
              <a:rPr lang="en-US" sz="1400" dirty="0" smtClean="0"/>
              <a:t>) </a:t>
            </a:r>
            <a:r>
              <a:rPr lang="ko-KR" altLang="en-US" sz="1400" dirty="0" smtClean="0"/>
              <a:t>이름이</a:t>
            </a:r>
            <a:r>
              <a:rPr lang="en-US" sz="1400" dirty="0" smtClean="0"/>
              <a:t> SCOTT</a:t>
            </a:r>
            <a:r>
              <a:rPr lang="ko-KR" altLang="en-US" sz="1400" dirty="0" smtClean="0"/>
              <a:t>인 사람의 부서명을 출력해 보는 쿼리문</a:t>
            </a:r>
          </a:p>
          <a:p>
            <a:r>
              <a:rPr lang="en-US" sz="1400" dirty="0" smtClean="0"/>
              <a:t>SQL&gt; SELECT ENAME, DNAME FROM EMP, DEPT WHERE EMP.DEPTNO = DEPT.DEPTNO </a:t>
            </a:r>
            <a:r>
              <a:rPr 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</a:p>
          <a:p>
            <a:r>
              <a:rPr lang="en-US" sz="1400" dirty="0" smtClean="0"/>
              <a:t>        ENAME = 'SCOTT'; </a:t>
            </a:r>
            <a:endParaRPr lang="ko-KR" altLang="en-US" sz="1400" dirty="0"/>
          </a:p>
        </p:txBody>
      </p:sp>
      <p:pic>
        <p:nvPicPr>
          <p:cNvPr id="5" name="그림 4" descr="https://wikidocs.net/images/page/3958/6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071546"/>
            <a:ext cx="7500990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71472" y="2714620"/>
            <a:ext cx="80724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/>
            <a:r>
              <a:rPr lang="ko-KR" altLang="en-US" sz="1400" dirty="0" smtClean="0"/>
              <a:t>만약 두 테이블에 동일하게 존재하는 </a:t>
            </a:r>
            <a:r>
              <a:rPr lang="ko-KR" altLang="en-US" sz="1400" dirty="0" err="1" smtClean="0"/>
              <a:t>컬럼의</a:t>
            </a:r>
            <a:r>
              <a:rPr lang="ko-KR" altLang="en-US" sz="1400" dirty="0" smtClean="0"/>
              <a:t> 이름을</a:t>
            </a:r>
            <a:r>
              <a:rPr lang="en-US" sz="1400" dirty="0" smtClean="0"/>
              <a:t> SELECT</a:t>
            </a:r>
            <a:r>
              <a:rPr lang="ko-KR" altLang="en-US" sz="1400" dirty="0" smtClean="0"/>
              <a:t>문에 사용한다면</a:t>
            </a:r>
            <a:r>
              <a:rPr lang="en-US" sz="1400" dirty="0" smtClean="0"/>
              <a:t>?</a:t>
            </a:r>
            <a:endParaRPr lang="ko-KR" altLang="en-US" sz="1400" dirty="0" smtClean="0"/>
          </a:p>
          <a:p>
            <a:r>
              <a:rPr lang="en-US" sz="1400" dirty="0" smtClean="0"/>
              <a:t>SQL&gt; SELECT ENAME, DNAME, </a:t>
            </a:r>
            <a:r>
              <a:rPr 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DEPTNO</a:t>
            </a:r>
            <a:r>
              <a:rPr lang="en-US" sz="1400" dirty="0" smtClean="0"/>
              <a:t> FROM EMP, DEPT</a:t>
            </a:r>
          </a:p>
          <a:p>
            <a:r>
              <a:rPr lang="en-US" sz="1400" dirty="0" smtClean="0"/>
              <a:t>         WHERE EMP.DEPTNO = DEPT.DEPTNO AND ENAME = 'SCOTT'; </a:t>
            </a:r>
            <a:endParaRPr lang="ko-KR" altLang="en-US" sz="1400" dirty="0"/>
          </a:p>
        </p:txBody>
      </p:sp>
      <p:pic>
        <p:nvPicPr>
          <p:cNvPr id="9" name="그림 8" descr="https://wikidocs.net/images/page/3958/7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3571876"/>
            <a:ext cx="7500990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42910" y="5214950"/>
            <a:ext cx="75009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부서 번호</a:t>
            </a:r>
            <a:r>
              <a:rPr 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(DEPTNO)</a:t>
            </a:r>
            <a: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</a:t>
            </a:r>
            <a:r>
              <a:rPr 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EMP</a:t>
            </a:r>
            <a: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테이블과</a:t>
            </a:r>
            <a:r>
              <a:rPr 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DEPT</a:t>
            </a:r>
            <a: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테이블에 공통으로 들어있다</a:t>
            </a:r>
            <a:r>
              <a:rPr 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이럴 경우 어느 테이블 소속인지 불분명 하여 오류 메시지가 출력된다</a:t>
            </a:r>
            <a:r>
              <a:rPr 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endPara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/>
              <a:buChar char="è"/>
            </a:pPr>
            <a:r>
              <a:rPr lang="ko-KR" alt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반드시   </a:t>
            </a:r>
            <a:r>
              <a:rPr lang="ko-KR" altLang="en-US" sz="1400" b="1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테이블명</a:t>
            </a:r>
            <a:r>
              <a:rPr lang="en-US" altLang="ko-KR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.</a:t>
            </a:r>
            <a:r>
              <a:rPr lang="ko-KR" altLang="en-US" sz="1400" b="1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컬럼명</a:t>
            </a:r>
            <a:r>
              <a:rPr lang="ko-KR" alt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</a:t>
            </a:r>
            <a:r>
              <a:rPr lang="en-US" altLang="ko-KR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, </a:t>
            </a:r>
            <a:r>
              <a:rPr lang="ko-KR" altLang="en-US" sz="1400" b="1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별침명</a:t>
            </a:r>
            <a:r>
              <a:rPr lang="en-US" altLang="ko-KR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.</a:t>
            </a:r>
            <a:r>
              <a:rPr lang="ko-KR" altLang="en-US" sz="1400" b="1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컬럼명을</a:t>
            </a:r>
            <a:r>
              <a:rPr lang="ko-KR" alt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사용한다</a:t>
            </a:r>
            <a:endParaRPr lang="en-US" altLang="ko-KR" sz="1400" b="1" dirty="0" smtClean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>
              <a:buFont typeface="Wingdings"/>
              <a:buChar char="è"/>
            </a:pPr>
            <a:endParaRPr lang="en-US" altLang="ko-KR" sz="1400" b="1" dirty="0" smtClean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>
              <a:buFont typeface="Wingdings"/>
              <a:buChar char="è"/>
            </a:pPr>
            <a:r>
              <a:rPr lang="ko-KR" alt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중복되지 않은 </a:t>
            </a:r>
            <a:r>
              <a:rPr lang="ko-KR" altLang="en-US" sz="1400" b="1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컬럼명이라면</a:t>
            </a:r>
            <a:r>
              <a:rPr lang="ko-KR" alt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1400" b="1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테이블명을</a:t>
            </a:r>
            <a:r>
              <a:rPr lang="ko-KR" alt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명시하지 않아도 무관하다</a:t>
            </a:r>
            <a:r>
              <a:rPr lang="en-US" sz="1400" dirty="0" smtClean="0"/>
              <a:t>.</a:t>
            </a:r>
            <a:endParaRPr lang="ko-KR" altLang="en-US" sz="1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57158" y="214290"/>
            <a:ext cx="85011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/>
            <a:r>
              <a:rPr lang="ko-KR" altLang="en-US" sz="1400" dirty="0" smtClean="0"/>
              <a:t>예</a:t>
            </a:r>
            <a:r>
              <a:rPr lang="en-US" sz="1400" dirty="0" smtClean="0"/>
              <a:t>) </a:t>
            </a:r>
            <a:r>
              <a:rPr lang="ko-KR" altLang="en-US" sz="1400" dirty="0" smtClean="0"/>
              <a:t>사원</a:t>
            </a:r>
            <a:r>
              <a:rPr lang="en-US" sz="1400" dirty="0" smtClean="0"/>
              <a:t>(EMP)</a:t>
            </a:r>
            <a:r>
              <a:rPr lang="ko-KR" altLang="en-US" sz="1400" dirty="0" smtClean="0"/>
              <a:t>테이블의 별칭을</a:t>
            </a:r>
            <a:r>
              <a:rPr lang="en-US" sz="1400" dirty="0" smtClean="0"/>
              <a:t> E</a:t>
            </a:r>
            <a:r>
              <a:rPr lang="ko-KR" altLang="en-US" sz="1400" dirty="0" smtClean="0"/>
              <a:t>로</a:t>
            </a:r>
            <a:r>
              <a:rPr lang="en-US" sz="1400" dirty="0" smtClean="0"/>
              <a:t>, </a:t>
            </a:r>
            <a:r>
              <a:rPr lang="ko-KR" altLang="en-US" sz="1400" dirty="0" smtClean="0"/>
              <a:t>부서</a:t>
            </a:r>
            <a:r>
              <a:rPr lang="en-US" sz="1400" dirty="0" smtClean="0"/>
              <a:t>(DEPT)</a:t>
            </a:r>
            <a:r>
              <a:rPr lang="ko-KR" altLang="en-US" sz="1400" dirty="0" smtClean="0"/>
              <a:t>테이블의 별칭을</a:t>
            </a:r>
            <a:r>
              <a:rPr lang="en-US" sz="1400" dirty="0" smtClean="0"/>
              <a:t> D</a:t>
            </a:r>
            <a:r>
              <a:rPr lang="ko-KR" altLang="en-US" sz="1400" dirty="0" smtClean="0"/>
              <a:t>로 부여하는 </a:t>
            </a:r>
            <a:r>
              <a:rPr lang="ko-KR" altLang="en-US" sz="1400" dirty="0" err="1" smtClean="0"/>
              <a:t>쿼리문</a:t>
            </a:r>
            <a:endParaRPr lang="en-US" altLang="ko-KR" sz="1400" dirty="0" smtClean="0"/>
          </a:p>
          <a:p>
            <a:pPr lvl="0" latinLnBrk="0"/>
            <a:endParaRPr lang="ko-KR" altLang="en-US" sz="1400" dirty="0" smtClean="0"/>
          </a:p>
          <a:p>
            <a:r>
              <a:rPr lang="en-US" sz="1400" dirty="0" smtClean="0"/>
              <a:t>SQL&gt; SELECT E.ENAME, D.DNAME, E.DEPTNO FROM EMP E, DEPT D</a:t>
            </a:r>
          </a:p>
          <a:p>
            <a:r>
              <a:rPr lang="en-US" sz="1400" dirty="0" smtClean="0"/>
              <a:t>        WHERE E.DEPTNO = D.DEPTNO AND ENAME = 'SCOTT'; </a:t>
            </a:r>
            <a:endParaRPr lang="ko-KR" altLang="en-US" sz="1400" dirty="0"/>
          </a:p>
        </p:txBody>
      </p:sp>
      <p:pic>
        <p:nvPicPr>
          <p:cNvPr id="11" name="그림 10" descr="https://wikidocs.net/images/page/3958/9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571612"/>
            <a:ext cx="7715304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00034" y="4214818"/>
            <a:ext cx="77867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테이블명이</a:t>
            </a:r>
            <a:r>
              <a:rPr lang="ko-KR" altLang="en-US" sz="1400" dirty="0" smtClean="0"/>
              <a:t> 길 경우 모두 명시하면 </a:t>
            </a:r>
            <a:r>
              <a:rPr lang="ko-KR" altLang="en-US" sz="1400" dirty="0" err="1" smtClean="0"/>
              <a:t>쿼리문이</a:t>
            </a:r>
            <a:r>
              <a:rPr lang="ko-KR" altLang="en-US" sz="1400" dirty="0" smtClean="0"/>
              <a:t> 길어진다</a:t>
            </a:r>
            <a:r>
              <a:rPr lang="en-US" sz="1400" dirty="0" smtClean="0"/>
              <a:t>. </a:t>
            </a:r>
          </a:p>
          <a:p>
            <a:r>
              <a:rPr lang="ko-KR" altLang="en-US" sz="1400" dirty="0" smtClean="0"/>
              <a:t>이때 별칭을 써서 간단하게 </a:t>
            </a:r>
            <a:r>
              <a:rPr lang="ko-KR" altLang="en-US" sz="1400" dirty="0" err="1" smtClean="0"/>
              <a:t>쿼리문을</a:t>
            </a:r>
            <a:r>
              <a:rPr lang="ko-KR" altLang="en-US" sz="1400" dirty="0" smtClean="0"/>
              <a:t> 작성한다</a:t>
            </a:r>
            <a:r>
              <a:rPr lang="en-US" sz="1400" dirty="0" smtClean="0"/>
              <a:t>. </a:t>
            </a:r>
          </a:p>
          <a:p>
            <a:r>
              <a:rPr lang="ko-KR" altLang="en-US" sz="1400" dirty="0" smtClean="0"/>
              <a:t>그리고 </a:t>
            </a:r>
            <a:r>
              <a:rPr lang="ko-KR" altLang="en-US" sz="1400" dirty="0" err="1" smtClean="0"/>
              <a:t>테이블명에</a:t>
            </a:r>
            <a:r>
              <a:rPr lang="ko-KR" altLang="en-US" sz="1400" dirty="0" smtClean="0"/>
              <a:t> 별칭을 부여한 후</a:t>
            </a:r>
            <a:r>
              <a:rPr lang="en-US" sz="1400" dirty="0" smtClean="0"/>
              <a:t>, </a:t>
            </a:r>
            <a:r>
              <a:rPr lang="ko-KR" altLang="en-US" sz="1400" dirty="0" err="1" smtClean="0"/>
              <a:t>컬럼</a:t>
            </a:r>
            <a:r>
              <a:rPr lang="ko-KR" altLang="en-US" sz="1400" dirty="0" smtClean="0"/>
              <a:t> 앞에 소속 테이블을 지정 할 때는 반드시 별칭을 </a:t>
            </a:r>
            <a:endParaRPr lang="en-US" altLang="ko-KR" sz="1400" dirty="0" smtClean="0"/>
          </a:p>
          <a:p>
            <a:r>
              <a:rPr lang="ko-KR" altLang="en-US" sz="1400" dirty="0" smtClean="0"/>
              <a:t>붙여야 오류가 발생하지 않는다</a:t>
            </a:r>
            <a:r>
              <a:rPr lang="en-US" sz="1400" dirty="0" smtClean="0"/>
              <a:t>. </a:t>
            </a:r>
          </a:p>
          <a:p>
            <a:r>
              <a:rPr lang="ko-KR" altLang="en-US" sz="1400" dirty="0" smtClean="0"/>
              <a:t>뒤 두 쿼리문의 결과는 동일하다</a:t>
            </a:r>
            <a:r>
              <a:rPr lang="en-US" sz="1400" dirty="0" smtClean="0"/>
              <a:t>.</a:t>
            </a:r>
            <a:endParaRPr lang="ko-KR" altLang="en-US" sz="1400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285728"/>
            <a:ext cx="7786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ym typeface="Wingdings" pitchFamily="2" charset="2"/>
              </a:rPr>
              <a:t> </a:t>
            </a:r>
            <a:r>
              <a:rPr lang="en-US" sz="1600" b="1" dirty="0" smtClean="0"/>
              <a:t>NON-EQUI JOIN(</a:t>
            </a:r>
            <a:r>
              <a:rPr lang="ko-KR" altLang="en-US" sz="1600" b="1" dirty="0" err="1" smtClean="0"/>
              <a:t>비등가</a:t>
            </a:r>
            <a:r>
              <a:rPr lang="ko-KR" altLang="en-US" sz="1600" b="1" dirty="0" smtClean="0"/>
              <a:t> 조인</a:t>
            </a:r>
            <a:r>
              <a:rPr lang="en-US" sz="1600" b="1" dirty="0" smtClean="0"/>
              <a:t>) </a:t>
            </a:r>
            <a:endParaRPr lang="ko-KR" alt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571472" y="714356"/>
            <a:ext cx="82868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0"/>
            <a:r>
              <a:rPr lang="en-US" altLang="ko-KR" sz="1400" dirty="0" smtClean="0"/>
              <a:t>1) </a:t>
            </a:r>
            <a:r>
              <a:rPr lang="ko-KR" altLang="en-US" sz="1400" dirty="0" smtClean="0"/>
              <a:t>동일 </a:t>
            </a:r>
            <a:r>
              <a:rPr lang="ko-KR" altLang="en-US" sz="1400" dirty="0" err="1" smtClean="0"/>
              <a:t>컬럼이</a:t>
            </a:r>
            <a:r>
              <a:rPr lang="ko-KR" altLang="en-US" sz="1400" dirty="0" smtClean="0"/>
              <a:t> 없이 다른 조건을 사용하여 조인 할 </a:t>
            </a:r>
            <a:r>
              <a:rPr lang="ko-KR" altLang="en-US" sz="1400" dirty="0" err="1" smtClean="0"/>
              <a:t>떄</a:t>
            </a:r>
            <a:r>
              <a:rPr lang="ko-KR" altLang="en-US" sz="1400" dirty="0" smtClean="0"/>
              <a:t> 쓰인다</a:t>
            </a:r>
            <a:r>
              <a:rPr lang="en-US" sz="1400" dirty="0" smtClean="0"/>
              <a:t>.</a:t>
            </a:r>
          </a:p>
          <a:p>
            <a:pPr marL="342900" lvl="0" indent="-342900" latinLnBrk="0">
              <a:buAutoNum type="arabicParenR"/>
            </a:pPr>
            <a:endParaRPr lang="ko-KR" altLang="en-US" sz="1400" dirty="0" smtClean="0"/>
          </a:p>
          <a:p>
            <a:pPr lvl="0" latinLnBrk="0"/>
            <a:r>
              <a:rPr lang="en-US" sz="1400" dirty="0" smtClean="0"/>
              <a:t>2) EQUI JOIN</a:t>
            </a:r>
            <a:r>
              <a:rPr lang="ko-KR" altLang="en-US" sz="1400" dirty="0" smtClean="0"/>
              <a:t>과</a:t>
            </a:r>
            <a:r>
              <a:rPr lang="en-US" sz="1400" dirty="0" smtClean="0"/>
              <a:t> NON-EQUI JOIN</a:t>
            </a:r>
            <a:r>
              <a:rPr lang="ko-KR" altLang="en-US" sz="1400" dirty="0" smtClean="0"/>
              <a:t>의 차이점</a:t>
            </a:r>
          </a:p>
          <a:p>
            <a:pPr lvl="1" latinLnBrk="0"/>
            <a:r>
              <a:rPr lang="en-US" sz="1400" dirty="0" smtClean="0"/>
              <a:t>EQUI JOIN : JOIN</a:t>
            </a:r>
            <a:r>
              <a:rPr lang="ko-KR" altLang="en-US" sz="1400" dirty="0" smtClean="0"/>
              <a:t>조건에 서로 다른 조건</a:t>
            </a:r>
            <a:r>
              <a:rPr lang="en-US" sz="1400" dirty="0" smtClean="0"/>
              <a:t>(=)</a:t>
            </a:r>
            <a:r>
              <a:rPr lang="ko-KR" altLang="en-US" sz="1400" dirty="0" smtClean="0"/>
              <a:t>을 가진 데이터를</a:t>
            </a:r>
            <a:r>
              <a:rPr lang="en-US" sz="1400" dirty="0" smtClean="0"/>
              <a:t> JOIN</a:t>
            </a:r>
            <a:r>
              <a:rPr lang="ko-KR" altLang="en-US" sz="1400" dirty="0" smtClean="0"/>
              <a:t>해서 가져오는 방법</a:t>
            </a:r>
          </a:p>
          <a:p>
            <a:pPr lvl="1" latinLnBrk="0"/>
            <a:r>
              <a:rPr lang="en-US" sz="1400" dirty="0" smtClean="0"/>
              <a:t>NON-EQUI JOIN : </a:t>
            </a:r>
            <a:r>
              <a:rPr lang="ko-KR" altLang="en-US" sz="1400" dirty="0" smtClean="0"/>
              <a:t>같은 조건이 아닌 크거나 작거나 하는 경우</a:t>
            </a:r>
            <a:r>
              <a:rPr lang="en-US" sz="1400" dirty="0" smtClean="0"/>
              <a:t> JOIN</a:t>
            </a:r>
            <a:r>
              <a:rPr lang="ko-KR" altLang="en-US" sz="1400" dirty="0" smtClean="0"/>
              <a:t>을 수행하는 방법</a:t>
            </a:r>
            <a:endParaRPr lang="en-US" altLang="ko-KR" sz="1400" dirty="0" smtClean="0"/>
          </a:p>
          <a:p>
            <a:pPr lvl="1" latinLnBrk="0"/>
            <a:endParaRPr lang="ko-KR" altLang="en-US" sz="1400" dirty="0" smtClean="0"/>
          </a:p>
          <a:p>
            <a:pPr lvl="0" latinLnBrk="0"/>
            <a:r>
              <a:rPr lang="en-US" altLang="ko-KR" sz="1400" dirty="0" smtClean="0"/>
              <a:t>3) </a:t>
            </a:r>
            <a:r>
              <a:rPr lang="ko-KR" altLang="en-US" sz="1400" dirty="0" smtClean="0"/>
              <a:t>등급 테이블</a:t>
            </a:r>
            <a:r>
              <a:rPr lang="en-US" sz="1400" dirty="0" smtClean="0"/>
              <a:t>(SALGRADE)</a:t>
            </a:r>
            <a:endParaRPr lang="ko-KR" altLang="en-US" sz="1400" dirty="0" smtClean="0"/>
          </a:p>
          <a:p>
            <a:r>
              <a:rPr lang="ko-KR" altLang="en-US" sz="1400" dirty="0" smtClean="0"/>
              <a:t>   급여에 대한 등급을 총</a:t>
            </a:r>
            <a:r>
              <a:rPr lang="en-US" sz="1400" dirty="0" smtClean="0"/>
              <a:t> 5</a:t>
            </a:r>
            <a:r>
              <a:rPr lang="ko-KR" altLang="en-US" sz="1400" dirty="0" smtClean="0"/>
              <a:t>등급으로 구분한 테이블이다</a:t>
            </a:r>
            <a:r>
              <a:rPr lang="en-US" sz="1400" dirty="0" smtClean="0"/>
              <a:t>. </a:t>
            </a:r>
            <a:endParaRPr lang="ko-KR" altLang="en-US" sz="1400" dirty="0"/>
          </a:p>
        </p:txBody>
      </p:sp>
      <p:pic>
        <p:nvPicPr>
          <p:cNvPr id="9" name="그림 8" descr="https://wikidocs.net/images/page/3959/10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857496"/>
            <a:ext cx="4705350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8596" y="142852"/>
            <a:ext cx="80010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/>
            <a:r>
              <a:rPr lang="ko-KR" altLang="en-US" sz="1400" dirty="0" smtClean="0"/>
              <a:t>예</a:t>
            </a:r>
            <a:r>
              <a:rPr lang="en-US" sz="1400" dirty="0" smtClean="0"/>
              <a:t>) </a:t>
            </a:r>
            <a:r>
              <a:rPr lang="ko-KR" altLang="en-US" sz="1400" dirty="0" smtClean="0"/>
              <a:t>각 사원의 급여가 몇 등급인지 살펴보는 </a:t>
            </a:r>
            <a:r>
              <a:rPr lang="ko-KR" altLang="en-US" sz="1400" dirty="0" err="1" smtClean="0"/>
              <a:t>쿼리문</a:t>
            </a:r>
            <a:endParaRPr lang="en-US" altLang="ko-KR" sz="1400" dirty="0" smtClean="0"/>
          </a:p>
          <a:p>
            <a:pPr lvl="0" latinLnBrk="0"/>
            <a:endParaRPr lang="ko-KR" altLang="en-US" sz="1400" dirty="0" smtClean="0"/>
          </a:p>
          <a:p>
            <a:r>
              <a:rPr lang="en-US" sz="1400" dirty="0" smtClean="0"/>
              <a:t>SQL&gt; SELECT ENAME, SAL, GRADE FROM EMP, SALGRADE </a:t>
            </a:r>
          </a:p>
          <a:p>
            <a:r>
              <a:rPr lang="en-US" sz="1400" dirty="0" smtClean="0"/>
              <a:t>        WHERE SAL BETWEEN LOSAL AND HISAL; </a:t>
            </a:r>
            <a:endParaRPr lang="ko-KR" altLang="en-US" sz="1400" dirty="0"/>
          </a:p>
        </p:txBody>
      </p:sp>
      <p:pic>
        <p:nvPicPr>
          <p:cNvPr id="10" name="그림 9" descr="https://wikidocs.net/images/page/3959/12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357298"/>
            <a:ext cx="8215370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571472" y="4929198"/>
            <a:ext cx="8215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</a:t>
            </a:r>
            <a:r>
              <a:rPr lang="ko-KR" alt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절을</a:t>
            </a:r>
            <a:r>
              <a:rPr 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[SAL &gt;= LOSAL AND SAL&lt;= HISAL;]</a:t>
            </a:r>
            <a:r>
              <a:rPr lang="ko-KR" alt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로 바꿔도 결과는 동일하다</a:t>
            </a:r>
            <a:r>
              <a:rPr lang="en-US" sz="1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ko-KR" altLang="en-US" sz="1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85720" y="214290"/>
            <a:ext cx="8572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/>
            <a:r>
              <a:rPr lang="ko-KR" altLang="en-US" sz="1400" dirty="0" smtClean="0"/>
              <a:t>예</a:t>
            </a:r>
            <a:r>
              <a:rPr lang="en-US" sz="1400" dirty="0" smtClean="0"/>
              <a:t>) </a:t>
            </a:r>
            <a:r>
              <a:rPr lang="ko-KR" altLang="en-US" sz="1400" dirty="0" smtClean="0"/>
              <a:t>한 명의 사원 이름과 소속 부서명</a:t>
            </a:r>
            <a:r>
              <a:rPr lang="en-US" sz="1400" dirty="0" smtClean="0"/>
              <a:t>, </a:t>
            </a:r>
            <a:r>
              <a:rPr lang="ko-KR" altLang="en-US" sz="1400" dirty="0" smtClean="0"/>
              <a:t>급여의 등급을 출력하는 </a:t>
            </a:r>
            <a:r>
              <a:rPr lang="ko-KR" altLang="en-US" sz="1400" dirty="0" err="1" smtClean="0"/>
              <a:t>쿼리문</a:t>
            </a:r>
            <a:r>
              <a:rPr lang="en-US" sz="1400" dirty="0" smtClean="0"/>
              <a:t>(</a:t>
            </a:r>
            <a:r>
              <a:rPr lang="ko-KR" altLang="en-US" sz="1400" dirty="0" smtClean="0"/>
              <a:t>사원테이블에는 부서 이름과 </a:t>
            </a:r>
            <a:endParaRPr lang="en-US" altLang="ko-KR" sz="1400" dirty="0" smtClean="0"/>
          </a:p>
          <a:p>
            <a:pPr lvl="0" latinLnBrk="0"/>
            <a:r>
              <a:rPr lang="en-US" altLang="ko-KR" sz="1400" dirty="0" smtClean="0"/>
              <a:t>     </a:t>
            </a:r>
            <a:r>
              <a:rPr lang="ko-KR" altLang="en-US" sz="1400" dirty="0" smtClean="0"/>
              <a:t>급여 등급은 없고</a:t>
            </a:r>
            <a:r>
              <a:rPr lang="en-US" sz="1400" dirty="0" smtClean="0"/>
              <a:t>, </a:t>
            </a:r>
            <a:r>
              <a:rPr lang="ko-KR" altLang="en-US" sz="1400" dirty="0" smtClean="0"/>
              <a:t>부서 번호와 급여만 있다</a:t>
            </a:r>
            <a:r>
              <a:rPr lang="en-US" sz="1400" dirty="0" smtClean="0"/>
              <a:t>.)</a:t>
            </a:r>
          </a:p>
          <a:p>
            <a:pPr lvl="0" latinLnBrk="0"/>
            <a:endParaRPr lang="ko-KR" altLang="en-US" sz="1400" dirty="0" smtClean="0"/>
          </a:p>
          <a:p>
            <a:pPr lvl="1" latinLnBrk="0"/>
            <a:r>
              <a:rPr lang="ko-KR" altLang="en-US" sz="1400" dirty="0" smtClean="0"/>
              <a:t>이런 경우 사원테이블의 부서 번호로 부서 테이블을 참조하여 부서의 이름을 가져와야 하고</a:t>
            </a:r>
            <a:r>
              <a:rPr lang="en-US" sz="1400" dirty="0" smtClean="0"/>
              <a:t>, </a:t>
            </a:r>
            <a:r>
              <a:rPr lang="ko-KR" altLang="en-US" sz="1400" dirty="0" smtClean="0"/>
              <a:t>사원테이블의 급여로 급여 등급테이블을 참조하여 등급을 가져와야 한다</a:t>
            </a:r>
            <a:r>
              <a:rPr lang="en-US" sz="1400" dirty="0" smtClean="0"/>
              <a:t>. </a:t>
            </a:r>
            <a:r>
              <a:rPr lang="ko-KR" altLang="en-US" sz="1400" dirty="0" smtClean="0"/>
              <a:t>즉 </a:t>
            </a:r>
            <a:r>
              <a:rPr lang="en-US" sz="1400" b="1" dirty="0" smtClean="0"/>
              <a:t>3</a:t>
            </a:r>
            <a:r>
              <a:rPr lang="ko-KR" altLang="en-US" sz="1400" b="1" dirty="0" smtClean="0"/>
              <a:t>개의 테이블</a:t>
            </a:r>
            <a:r>
              <a:rPr lang="en-US" sz="1400" b="1" dirty="0" smtClean="0"/>
              <a:t>(EMP, DEPT, SALGRADE)</a:t>
            </a:r>
            <a:r>
              <a:rPr lang="ko-KR" altLang="en-US" sz="1400" b="1" dirty="0" smtClean="0"/>
              <a:t>을 조인해야 한다</a:t>
            </a:r>
            <a:r>
              <a:rPr lang="en-US" sz="1400" b="1" dirty="0" smtClean="0"/>
              <a:t>.</a:t>
            </a:r>
          </a:p>
          <a:p>
            <a:pPr lvl="1" latinLnBrk="0"/>
            <a:endParaRPr lang="ko-KR" altLang="en-US" sz="1400" dirty="0" smtClean="0"/>
          </a:p>
          <a:p>
            <a:r>
              <a:rPr lang="en-US" sz="1400" dirty="0" smtClean="0"/>
              <a:t>SQL&gt; SELECT E.ENAME, D.DNAME, S.GRADE FROM EMP E, DEPT D, SALGRADE S </a:t>
            </a:r>
          </a:p>
          <a:p>
            <a:r>
              <a:rPr lang="en-US" sz="1400" dirty="0" smtClean="0"/>
              <a:t>        WHERE E.DEPTNO = D.DEPTNO AND E.SAL BETWEEN S.LOSAL AND S.HISAL; </a:t>
            </a:r>
            <a:endParaRPr lang="ko-KR" altLang="en-US" sz="1400" dirty="0"/>
          </a:p>
        </p:txBody>
      </p:sp>
      <p:pic>
        <p:nvPicPr>
          <p:cNvPr id="7" name="그림 6" descr="https://wikidocs.net/images/page/3959/13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357430"/>
            <a:ext cx="8215370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28596" y="6072206"/>
            <a:ext cx="8358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부서명을 구하기 위해</a:t>
            </a:r>
            <a:r>
              <a:rPr lang="en-US" sz="1400" dirty="0" smtClean="0"/>
              <a:t> EQUI JOIN</a:t>
            </a:r>
            <a:r>
              <a:rPr lang="ko-KR" altLang="en-US" sz="1400" dirty="0" smtClean="0"/>
              <a:t>을 했으며</a:t>
            </a:r>
            <a:r>
              <a:rPr lang="en-US" sz="1400" dirty="0" smtClean="0"/>
              <a:t>, </a:t>
            </a:r>
            <a:r>
              <a:rPr lang="ko-KR" altLang="en-US" sz="1400" dirty="0" smtClean="0"/>
              <a:t>급여 등급을 구하기 위해서는</a:t>
            </a:r>
            <a:r>
              <a:rPr lang="en-US" sz="1400" dirty="0" smtClean="0"/>
              <a:t> NON-EQUI JOIN</a:t>
            </a:r>
            <a:r>
              <a:rPr lang="ko-KR" altLang="en-US" sz="1400" dirty="0" smtClean="0"/>
              <a:t>을 했다</a:t>
            </a:r>
            <a:r>
              <a:rPr lang="en-US" sz="1400" dirty="0" smtClean="0"/>
              <a:t>.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8596" y="214290"/>
            <a:ext cx="7858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ym typeface="Wingdings" pitchFamily="2" charset="2"/>
              </a:rPr>
              <a:t> </a:t>
            </a:r>
            <a:r>
              <a:rPr lang="en-US" sz="1600" b="1" dirty="0" smtClean="0"/>
              <a:t>SELF JOIN </a:t>
            </a:r>
            <a:endParaRPr lang="ko-KR" alt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500034" y="714356"/>
            <a:ext cx="842968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0"/>
            <a:r>
              <a:rPr lang="en-US" altLang="ko-KR" sz="1400" dirty="0" smtClean="0"/>
              <a:t>1) </a:t>
            </a:r>
            <a:r>
              <a:rPr lang="ko-KR" altLang="en-US" sz="1400" dirty="0" smtClean="0"/>
              <a:t>자기 자신과 조인을 하는 기법이다</a:t>
            </a:r>
            <a:r>
              <a:rPr lang="en-US" sz="1400" dirty="0" smtClean="0"/>
              <a:t>.</a:t>
            </a:r>
          </a:p>
          <a:p>
            <a:pPr marL="342900" lvl="0" indent="-342900" latinLnBrk="0">
              <a:buAutoNum type="arabicParenR"/>
            </a:pPr>
            <a:endParaRPr lang="ko-KR" altLang="en-US" sz="1400" dirty="0" smtClean="0"/>
          </a:p>
          <a:p>
            <a:pPr lvl="0" latinLnBrk="0"/>
            <a:r>
              <a:rPr lang="en-US" altLang="ko-KR" sz="1400" dirty="0" smtClean="0"/>
              <a:t>2)  </a:t>
            </a:r>
            <a:r>
              <a:rPr lang="ko-KR" altLang="en-US" sz="1400" dirty="0" smtClean="0"/>
              <a:t>조인은 서로 다른 두 개의 테이블을 연결하기도 하지만 하나의 테이블 내에서 조인을 해야만</a:t>
            </a:r>
            <a:endParaRPr lang="en-US" altLang="ko-KR" sz="1400" dirty="0" smtClean="0"/>
          </a:p>
          <a:p>
            <a:pPr lvl="0" latinLnBrk="0"/>
            <a:r>
              <a:rPr lang="en-US" altLang="ko-KR" sz="1400" dirty="0" smtClean="0"/>
              <a:t>   </a:t>
            </a:r>
            <a:r>
              <a:rPr lang="ko-KR" altLang="en-US" sz="1400" dirty="0" smtClean="0"/>
              <a:t> 자료를 얻을 수 있는 경우에 쓰인다</a:t>
            </a:r>
            <a:r>
              <a:rPr lang="en-US" sz="1400" dirty="0" smtClean="0"/>
              <a:t>.</a:t>
            </a:r>
          </a:p>
          <a:p>
            <a:pPr lvl="0" latinLnBrk="0"/>
            <a:endParaRPr lang="ko-KR" altLang="en-US" sz="1400" dirty="0" smtClean="0"/>
          </a:p>
          <a:p>
            <a:pPr lvl="0" latinLnBrk="0"/>
            <a:r>
              <a:rPr lang="en-US" altLang="ko-KR" sz="1400" dirty="0" smtClean="0"/>
              <a:t>3) </a:t>
            </a:r>
            <a:r>
              <a:rPr lang="ko-KR" altLang="en-US" sz="1400" dirty="0" smtClean="0"/>
              <a:t>이름이</a:t>
            </a:r>
            <a:r>
              <a:rPr lang="en-US" sz="1400" dirty="0" smtClean="0"/>
              <a:t> SMITH</a:t>
            </a:r>
            <a:r>
              <a:rPr lang="ko-KR" altLang="en-US" sz="1400" dirty="0" smtClean="0"/>
              <a:t>인 사원의 매니저 이름을 알아내려면 이 역시</a:t>
            </a:r>
            <a:r>
              <a:rPr lang="en-US" sz="1400" dirty="0" smtClean="0"/>
              <a:t> EMP</a:t>
            </a:r>
            <a:r>
              <a:rPr lang="ko-KR" altLang="en-US" sz="1400" dirty="0" smtClean="0"/>
              <a:t>테이블에서 확인 할 수 있다</a:t>
            </a:r>
            <a:r>
              <a:rPr lang="en-US" sz="1400" dirty="0" smtClean="0"/>
              <a:t>. </a:t>
            </a:r>
          </a:p>
          <a:p>
            <a:pPr lvl="0" latinLnBrk="0"/>
            <a:r>
              <a:rPr lang="en-US" altLang="ko-KR" sz="1400" dirty="0" smtClean="0"/>
              <a:t>   </a:t>
            </a:r>
            <a:r>
              <a:rPr lang="ko-KR" altLang="en-US" sz="1400" dirty="0" smtClean="0"/>
              <a:t>그럼 담당 매니저의 이름을 알아내려면 어떻게 </a:t>
            </a:r>
            <a:r>
              <a:rPr lang="ko-KR" altLang="en-US" sz="1400" dirty="0" err="1" smtClean="0"/>
              <a:t>해야할까</a:t>
            </a:r>
            <a:r>
              <a:rPr lang="en-US" sz="1400" dirty="0" smtClean="0"/>
              <a:t>? </a:t>
            </a:r>
          </a:p>
          <a:p>
            <a:pPr lvl="0" latinLnBrk="0"/>
            <a:r>
              <a:rPr lang="en-US" altLang="ko-KR" sz="1400" dirty="0" smtClean="0"/>
              <a:t>   </a:t>
            </a:r>
            <a:r>
              <a:rPr lang="ko-KR" altLang="en-US" sz="1400" dirty="0" smtClean="0"/>
              <a:t>매니저 테이블이 있다면 이 두 테이블을   조인하여 알아낼 수 있겠지만 매니저 역시 </a:t>
            </a:r>
            <a:endParaRPr lang="en-US" altLang="ko-KR" sz="1400" dirty="0" smtClean="0"/>
          </a:p>
          <a:p>
            <a:pPr lvl="0" latinLnBrk="0"/>
            <a:r>
              <a:rPr lang="en-US" altLang="ko-KR" sz="1400" dirty="0" smtClean="0"/>
              <a:t>   </a:t>
            </a:r>
            <a:r>
              <a:rPr lang="ko-KR" altLang="en-US" sz="1400" dirty="0" smtClean="0"/>
              <a:t>이 회사에 사원이기 때문에 중복된 데이터가 생길 수 있으므로</a:t>
            </a:r>
            <a:r>
              <a:rPr lang="en-US" sz="1400" dirty="0" smtClean="0"/>
              <a:t> SMITH </a:t>
            </a:r>
            <a:r>
              <a:rPr lang="ko-KR" altLang="en-US" sz="1400" dirty="0" smtClean="0"/>
              <a:t>담당 매니저의 정보는 </a:t>
            </a:r>
            <a:endParaRPr lang="en-US" altLang="ko-KR" sz="1400" dirty="0" smtClean="0"/>
          </a:p>
          <a:p>
            <a:pPr lvl="0" latinLnBrk="0"/>
            <a:r>
              <a:rPr lang="en-US" altLang="ko-KR" sz="1400" dirty="0" smtClean="0"/>
              <a:t>   </a:t>
            </a:r>
            <a:r>
              <a:rPr lang="ko-KR" altLang="en-US" sz="1400" dirty="0" smtClean="0"/>
              <a:t>사원 테이블을 참조해서 얻어내야 한다</a:t>
            </a:r>
            <a:r>
              <a:rPr lang="en-US" sz="1400" dirty="0" smtClean="0"/>
              <a:t>. </a:t>
            </a:r>
          </a:p>
          <a:p>
            <a:pPr lvl="0" latinLnBrk="0"/>
            <a:r>
              <a:rPr lang="en-US" altLang="ko-KR" sz="1400" dirty="0" smtClean="0"/>
              <a:t>   </a:t>
            </a:r>
            <a:r>
              <a:rPr lang="ko-KR" altLang="en-US" sz="1400" dirty="0" smtClean="0"/>
              <a:t>이렇게 </a:t>
            </a:r>
            <a:r>
              <a:rPr lang="ko-KR" altLang="en-US" sz="1400" b="1" dirty="0" smtClean="0"/>
              <a:t>자신과 자기 자신을 조인하는 것이</a:t>
            </a:r>
            <a:r>
              <a:rPr lang="en-US" sz="1400" b="1" dirty="0" smtClean="0"/>
              <a:t> SELF JOIN</a:t>
            </a:r>
            <a:r>
              <a:rPr lang="ko-KR" altLang="en-US" sz="1400" b="1" dirty="0" smtClean="0"/>
              <a:t>이라고 한다</a:t>
            </a:r>
            <a:r>
              <a:rPr lang="en-US" sz="1400" b="1" dirty="0" smtClean="0"/>
              <a:t>.</a:t>
            </a:r>
            <a:endParaRPr lang="ko-KR" altLang="en-US" sz="1400" dirty="0" smtClean="0"/>
          </a:p>
          <a:p>
            <a:endParaRPr lang="ko-KR" altLang="en-US" dirty="0"/>
          </a:p>
        </p:txBody>
      </p:sp>
      <p:pic>
        <p:nvPicPr>
          <p:cNvPr id="11" name="그림 10" descr="https://wikidocs.net/images/page/3960/14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3143273"/>
            <a:ext cx="451485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286380" y="4197028"/>
            <a:ext cx="36433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위 사진처럼 조인해야 한다</a:t>
            </a:r>
            <a:r>
              <a:rPr lang="en-US" sz="1400" dirty="0" smtClean="0"/>
              <a:t>. FROM </a:t>
            </a:r>
            <a:r>
              <a:rPr lang="ko-KR" altLang="en-US" sz="1400" dirty="0" smtClean="0"/>
              <a:t>다음에</a:t>
            </a:r>
            <a:endParaRPr lang="en-US" altLang="ko-KR" sz="1400" dirty="0" smtClean="0"/>
          </a:p>
          <a:p>
            <a:r>
              <a:rPr lang="en-US" sz="1400" dirty="0" smtClean="0"/>
              <a:t> [EMP, EMP] </a:t>
            </a:r>
            <a:r>
              <a:rPr lang="ko-KR" altLang="en-US" sz="1400" dirty="0" smtClean="0"/>
              <a:t>이렇게 기술할 수는 없으므로 </a:t>
            </a:r>
            <a:r>
              <a:rPr lang="ko-KR" altLang="en-US" sz="1400" b="1" dirty="0" smtClean="0"/>
              <a:t>같은 테이블이 하나 더 존재하는 것처럼 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생각할 수 있도록 테이블 별칭을 사용해야 한다</a:t>
            </a:r>
            <a:r>
              <a:rPr lang="en-US" sz="1400" b="1" dirty="0" smtClean="0"/>
              <a:t>.</a:t>
            </a:r>
            <a:endParaRPr lang="ko-KR" altLang="en-US" sz="1400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0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85720" y="214290"/>
            <a:ext cx="85011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/>
            <a:r>
              <a:rPr lang="ko-KR" altLang="en-US" sz="1400" dirty="0" smtClean="0"/>
              <a:t>예</a:t>
            </a:r>
            <a:r>
              <a:rPr lang="en-US" sz="1400" dirty="0" smtClean="0"/>
              <a:t>) EMP</a:t>
            </a:r>
            <a:r>
              <a:rPr lang="ko-KR" altLang="en-US" sz="1400" dirty="0" smtClean="0"/>
              <a:t>테이블을</a:t>
            </a:r>
            <a:r>
              <a:rPr lang="en-US" sz="1400" dirty="0" smtClean="0"/>
              <a:t> EMPLOTEE</a:t>
            </a:r>
            <a:r>
              <a:rPr lang="ko-KR" altLang="en-US" sz="1400" dirty="0" smtClean="0"/>
              <a:t>와</a:t>
            </a:r>
            <a:r>
              <a:rPr lang="en-US" sz="1400" dirty="0" smtClean="0"/>
              <a:t> MANAGER</a:t>
            </a:r>
            <a:r>
              <a:rPr lang="ko-KR" altLang="en-US" sz="1400" dirty="0" smtClean="0"/>
              <a:t>로 별칭을 지정한 후 특정 사원의 매니저가 누구인지 </a:t>
            </a:r>
            <a:endParaRPr lang="en-US" altLang="ko-KR" sz="1400" dirty="0" smtClean="0"/>
          </a:p>
          <a:p>
            <a:pPr lvl="0" latinLnBrk="0"/>
            <a:r>
              <a:rPr lang="en-US" altLang="ko-KR" sz="1400" dirty="0" smtClean="0"/>
              <a:t>     </a:t>
            </a:r>
            <a:r>
              <a:rPr lang="ko-KR" altLang="en-US" sz="1400" dirty="0" smtClean="0"/>
              <a:t>알아내는 </a:t>
            </a:r>
            <a:r>
              <a:rPr lang="ko-KR" altLang="en-US" sz="1400" dirty="0" err="1" smtClean="0"/>
              <a:t>쿼리문</a:t>
            </a:r>
            <a:endParaRPr lang="en-US" altLang="ko-KR" sz="1400" dirty="0" smtClean="0"/>
          </a:p>
          <a:p>
            <a:pPr lvl="0" latinLnBrk="0"/>
            <a:endParaRPr lang="ko-KR" altLang="en-US" sz="1400" dirty="0" smtClean="0"/>
          </a:p>
          <a:p>
            <a:r>
              <a:rPr lang="en-US" sz="1400" dirty="0" smtClean="0"/>
              <a:t>SQL&gt; SELECT EMPLOYEE.ENAME||'</a:t>
            </a:r>
            <a:r>
              <a:rPr lang="ko-KR" altLang="en-US" sz="1400" dirty="0" smtClean="0"/>
              <a:t>의 매니저는</a:t>
            </a:r>
            <a:r>
              <a:rPr lang="en-US" sz="1400" dirty="0" smtClean="0"/>
              <a:t> '|| MANAGER.ENAME||'</a:t>
            </a:r>
            <a:r>
              <a:rPr lang="ko-KR" altLang="en-US" sz="1400" dirty="0" smtClean="0"/>
              <a:t>입니다</a:t>
            </a:r>
            <a:r>
              <a:rPr lang="en-US" sz="1400" dirty="0" smtClean="0"/>
              <a:t>.' FROM EMP EMPLOYEE,</a:t>
            </a:r>
          </a:p>
          <a:p>
            <a:r>
              <a:rPr lang="en-US" sz="1400" dirty="0" smtClean="0"/>
              <a:t>        EMP MANAGER WHERE EMPLOYEE.MGR = MANAGER.EMPNO; </a:t>
            </a:r>
            <a:endParaRPr lang="ko-KR" altLang="en-US" sz="1400" dirty="0"/>
          </a:p>
        </p:txBody>
      </p:sp>
      <p:pic>
        <p:nvPicPr>
          <p:cNvPr id="9" name="그림 8" descr="https://wikidocs.net/images/page/3960/15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14488"/>
            <a:ext cx="8143932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809</Words>
  <Application>Microsoft Office PowerPoint</Application>
  <PresentationFormat>화면 슬라이드 쇼(4:3)</PresentationFormat>
  <Paragraphs>89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오라클 3일차 (조인)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오라클 5일차 (조인)</dc:title>
  <dc:creator>cjw</dc:creator>
  <cp:lastModifiedBy>SIST</cp:lastModifiedBy>
  <cp:revision>3</cp:revision>
  <dcterms:created xsi:type="dcterms:W3CDTF">2018-10-05T08:02:42Z</dcterms:created>
  <dcterms:modified xsi:type="dcterms:W3CDTF">2023-11-08T07:00:09Z</dcterms:modified>
</cp:coreProperties>
</file>