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ADD78-559B-4102-98C3-2BE6DCF005A9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47891-63C5-4BB6-B7D0-47A3790147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634ED-CA56-41E2-8DA4-48DCDE8EFEE7}" type="datetimeFigureOut">
              <a:rPr lang="ko-KR" altLang="en-US" smtClean="0"/>
              <a:pPr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오라클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일차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8" name="Picture 4" descr="https://t1.daumcdn.net/cfile/tistory/235E0346543E08512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642918"/>
            <a:ext cx="8001056" cy="2905125"/>
          </a:xfrm>
          <a:prstGeom prst="rect">
            <a:avLst/>
          </a:prstGeom>
          <a:noFill/>
        </p:spPr>
      </p:pic>
      <p:pic>
        <p:nvPicPr>
          <p:cNvPr id="6150" name="Picture 6" descr="ì¤ë¼í´ ë¨ì¼í í¨ìì ëí ì´ë¯¸ì§ ê²ìê²°ê³¼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714752"/>
            <a:ext cx="8143932" cy="2928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문자 함수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8072494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숫</a:t>
            </a:r>
            <a:r>
              <a:rPr lang="ko-KR" altLang="en-US" dirty="0"/>
              <a:t>자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8001056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2910" y="3000372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날짜 함수</a:t>
            </a:r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429000"/>
            <a:ext cx="8072494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변</a:t>
            </a:r>
            <a:r>
              <a:rPr lang="ko-KR" altLang="en-US" dirty="0"/>
              <a:t>환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142984"/>
            <a:ext cx="55816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786058"/>
            <a:ext cx="778674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변</a:t>
            </a:r>
            <a:r>
              <a:rPr lang="ko-KR" altLang="en-US" dirty="0"/>
              <a:t>환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142984"/>
            <a:ext cx="55816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786058"/>
            <a:ext cx="778674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smtClean="0"/>
              <a:t>집합 </a:t>
            </a:r>
            <a:r>
              <a:rPr lang="ko-KR" altLang="en-US" b="1" dirty="0"/>
              <a:t>함수</a:t>
            </a:r>
            <a:r>
              <a:rPr lang="en-US" altLang="ko-KR" b="1" dirty="0"/>
              <a:t>(Aggregate Function</a:t>
            </a:r>
            <a:r>
              <a:rPr lang="en-US" altLang="ko-KR" b="1" dirty="0" smtClean="0"/>
              <a:t>)</a:t>
            </a:r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en-US" altLang="ko-KR" dirty="0" smtClean="0">
                <a:sym typeface="Wingdings" pitchFamily="2" charset="2"/>
              </a:rPr>
              <a:t></a:t>
            </a:r>
            <a:r>
              <a:rPr lang="ko-KR" altLang="en-US" dirty="0" smtClean="0"/>
              <a:t>여러 </a:t>
            </a:r>
            <a:r>
              <a:rPr lang="ko-KR" altLang="en-US" dirty="0"/>
              <a:t>행들의 그룹이 모여서 그룹당 단 하나의 결과를 돌려주는 </a:t>
            </a:r>
            <a:r>
              <a:rPr lang="ko-KR" altLang="en-US" dirty="0" err="1"/>
              <a:t>다중행</a:t>
            </a:r>
            <a:r>
              <a:rPr lang="ko-KR" altLang="en-US" dirty="0"/>
              <a:t> 함수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중 집합 </a:t>
            </a:r>
            <a:r>
              <a:rPr lang="ko-KR" altLang="en-US" dirty="0"/>
              <a:t>함수</a:t>
            </a:r>
            <a:r>
              <a:rPr lang="en-US" altLang="ko-KR" dirty="0"/>
              <a:t>(Aggregate Function)</a:t>
            </a:r>
            <a:r>
              <a:rPr lang="ko-KR" altLang="en-US" dirty="0"/>
              <a:t>의 특성은 다음과 같다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smtClean="0"/>
              <a:t>1) </a:t>
            </a:r>
            <a:r>
              <a:rPr lang="ko-KR" altLang="en-US" dirty="0" smtClean="0"/>
              <a:t>여러 </a:t>
            </a:r>
            <a:r>
              <a:rPr lang="ko-KR" altLang="en-US" dirty="0"/>
              <a:t>행들의 그룹이 모여서 그룹당 단 하나의 결과를 돌려주는 함수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GROUP </a:t>
            </a:r>
            <a:r>
              <a:rPr lang="en-US" altLang="ko-KR" dirty="0"/>
              <a:t>BY </a:t>
            </a:r>
            <a:r>
              <a:rPr lang="ko-KR" altLang="en-US" dirty="0"/>
              <a:t>절은 행들을 </a:t>
            </a:r>
            <a:r>
              <a:rPr lang="ko-KR" altLang="en-US" dirty="0" err="1"/>
              <a:t>소그룹화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r>
              <a:rPr lang="en-US" altLang="ko-KR" dirty="0" smtClean="0"/>
              <a:t>      2) SELECT </a:t>
            </a:r>
            <a:r>
              <a:rPr lang="ko-KR" altLang="en-US" dirty="0"/>
              <a:t>절</a:t>
            </a:r>
            <a:r>
              <a:rPr lang="en-US" altLang="ko-KR" dirty="0"/>
              <a:t>, HAVING </a:t>
            </a:r>
            <a:r>
              <a:rPr lang="ko-KR" altLang="en-US" dirty="0"/>
              <a:t>절</a:t>
            </a:r>
            <a:r>
              <a:rPr lang="en-US" altLang="ko-KR" dirty="0"/>
              <a:t>, ORDER BY </a:t>
            </a:r>
            <a:r>
              <a:rPr lang="ko-KR" altLang="en-US" dirty="0"/>
              <a:t>절에 사용할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643182"/>
            <a:ext cx="807249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집합함수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하나 </a:t>
            </a:r>
            <a:r>
              <a:rPr lang="ko-KR" altLang="en-US" dirty="0"/>
              <a:t>이상의 행을 그룹으로 묶어 연산하여</a:t>
            </a:r>
            <a:r>
              <a:rPr lang="en-US" altLang="ko-KR" dirty="0"/>
              <a:t>, </a:t>
            </a:r>
            <a:r>
              <a:rPr lang="ko-KR" altLang="en-US" dirty="0"/>
              <a:t>하나의 결과를 나타내는 함수이다</a:t>
            </a:r>
            <a:r>
              <a:rPr lang="en-US" altLang="ko-KR" dirty="0"/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1) SUM</a:t>
            </a:r>
            <a:endParaRPr lang="ko-KR" altLang="en-US" dirty="0"/>
          </a:p>
          <a:p>
            <a:pPr lvl="1"/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값들에 대한 총합을 구하는 함수이다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사원의 급여를 출력하되 </a:t>
            </a:r>
            <a:r>
              <a:rPr lang="ko-KR" altLang="en-US" dirty="0" err="1"/>
              <a:t>단일행</a:t>
            </a:r>
            <a:r>
              <a:rPr lang="ko-KR" altLang="en-US" dirty="0"/>
              <a:t> 함수 </a:t>
            </a:r>
            <a:r>
              <a:rPr lang="en-US" altLang="ko-KR" dirty="0"/>
              <a:t>ROUND</a:t>
            </a:r>
            <a:r>
              <a:rPr lang="ko-KR" altLang="en-US" dirty="0"/>
              <a:t>로 </a:t>
            </a:r>
            <a:r>
              <a:rPr lang="ko-KR" altLang="en-US" dirty="0" err="1"/>
              <a:t>천단위</a:t>
            </a:r>
            <a:r>
              <a:rPr lang="ko-KR" altLang="en-US" dirty="0"/>
              <a:t> 이하를 반올림하는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2" name="Picture 2" descr="https://wikidocs.net/images/page/3941/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8934"/>
            <a:ext cx="7486650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집합함수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하나 </a:t>
            </a:r>
            <a:r>
              <a:rPr lang="ko-KR" altLang="en-US" dirty="0"/>
              <a:t>이상의 행을 그룹으로 묶어 연산하여</a:t>
            </a:r>
            <a:r>
              <a:rPr lang="en-US" altLang="ko-KR" dirty="0"/>
              <a:t>, </a:t>
            </a:r>
            <a:r>
              <a:rPr lang="ko-KR" altLang="en-US" dirty="0"/>
              <a:t>하나의 결과를 나타내는 함수이다</a:t>
            </a:r>
            <a:r>
              <a:rPr lang="en-US" altLang="ko-KR" dirty="0"/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1) SUM</a:t>
            </a:r>
            <a:endParaRPr lang="ko-KR" altLang="en-US" dirty="0"/>
          </a:p>
          <a:p>
            <a:pPr lvl="1"/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값들에 대한 총합을 구하는 함수이다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사원의 급여를 출력하되 </a:t>
            </a:r>
            <a:r>
              <a:rPr lang="ko-KR" altLang="en-US" dirty="0" err="1"/>
              <a:t>단일행</a:t>
            </a:r>
            <a:r>
              <a:rPr lang="ko-KR" altLang="en-US" dirty="0"/>
              <a:t> 함수 </a:t>
            </a:r>
            <a:r>
              <a:rPr lang="en-US" altLang="ko-KR" dirty="0"/>
              <a:t>ROUND</a:t>
            </a:r>
            <a:r>
              <a:rPr lang="ko-KR" altLang="en-US" dirty="0"/>
              <a:t>로 </a:t>
            </a:r>
            <a:r>
              <a:rPr lang="ko-KR" altLang="en-US" dirty="0" err="1"/>
              <a:t>천단위</a:t>
            </a:r>
            <a:r>
              <a:rPr lang="ko-KR" altLang="en-US" dirty="0"/>
              <a:t> 이하를 반올림하는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2" name="Picture 2" descr="https://wikidocs.net/images/page/3941/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8934"/>
            <a:ext cx="7486650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그룹 </a:t>
            </a:r>
            <a:r>
              <a:rPr lang="ko-KR" altLang="en-US" dirty="0"/>
              <a:t>함수를 이용해서 사원의 총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6146" name="Picture 2" descr="https://wikidocs.net/images/page/3941/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214554"/>
            <a:ext cx="6172200" cy="2609851"/>
          </a:xfrm>
          <a:prstGeom prst="rect">
            <a:avLst/>
          </a:prstGeom>
          <a:noFill/>
        </p:spPr>
      </p:pic>
      <p:pic>
        <p:nvPicPr>
          <p:cNvPr id="6148" name="Picture 4" descr="https://wikidocs.net/images/page/3941/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895337"/>
            <a:ext cx="7686675" cy="819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AVG</a:t>
            </a:r>
          </a:p>
          <a:p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</a:t>
            </a:r>
            <a:r>
              <a:rPr lang="ko-KR" altLang="en-US" dirty="0" smtClean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값에 대해 평균을 구하는 함수이다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  예</a:t>
            </a:r>
            <a:r>
              <a:rPr lang="en-US" altLang="ko-KR" dirty="0"/>
              <a:t>) </a:t>
            </a:r>
            <a:r>
              <a:rPr lang="ko-KR" altLang="en-US" dirty="0"/>
              <a:t>급여 평균을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9218" name="Picture 2" descr="https://wikidocs.net/images/page/3941/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824031"/>
            <a:ext cx="6991350" cy="81915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3000372"/>
            <a:ext cx="821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MAX/MIN</a:t>
            </a:r>
          </a:p>
          <a:p>
            <a:r>
              <a:rPr lang="en-US" altLang="ko-KR" dirty="0" smtClean="0"/>
              <a:t>MAX </a:t>
            </a:r>
            <a:r>
              <a:rPr lang="en-US" altLang="ko-KR" dirty="0"/>
              <a:t>: </a:t>
            </a:r>
            <a:r>
              <a:rPr lang="ko-KR" altLang="en-US" dirty="0"/>
              <a:t>지정한 </a:t>
            </a:r>
            <a:r>
              <a:rPr lang="ko-KR" altLang="en-US" dirty="0" err="1"/>
              <a:t>컬럼</a:t>
            </a:r>
            <a:r>
              <a:rPr lang="ko-KR" altLang="en-US" dirty="0"/>
              <a:t> 값 중에서 최대값을 구하는 함수이다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MIN: </a:t>
            </a:r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값들의 최소값을 구하는 함수이다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가장 높은 급여와 가장 낮은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9220" name="Picture 4" descr="https://wikidocs.net/images/page/3941/6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500570"/>
            <a:ext cx="6800850" cy="876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7158" y="285728"/>
            <a:ext cx="82153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COUNT</a:t>
            </a:r>
          </a:p>
          <a:p>
            <a:endParaRPr lang="en-US" altLang="ko-KR" b="1" dirty="0"/>
          </a:p>
          <a:p>
            <a:r>
              <a:rPr lang="ko-KR" altLang="en-US" dirty="0" smtClean="0"/>
              <a:t>테이블에서 </a:t>
            </a:r>
            <a:r>
              <a:rPr lang="ko-KR" altLang="en-US" dirty="0"/>
              <a:t>조건을 만족하는 행위 개수를 반환하는 함수이다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COUNT </a:t>
            </a:r>
            <a:r>
              <a:rPr lang="ko-KR" altLang="en-US" dirty="0"/>
              <a:t>함수에 특정 </a:t>
            </a:r>
            <a:r>
              <a:rPr lang="ko-KR" altLang="en-US" dirty="0" err="1"/>
              <a:t>컬럼을</a:t>
            </a:r>
            <a:r>
              <a:rPr lang="ko-KR" altLang="en-US" dirty="0"/>
              <a:t> 기술하는 경우 해당 </a:t>
            </a:r>
            <a:r>
              <a:rPr lang="ko-KR" altLang="en-US" dirty="0" err="1"/>
              <a:t>컬럼</a:t>
            </a:r>
            <a:r>
              <a:rPr lang="ko-KR" altLang="en-US" dirty="0"/>
              <a:t> 값을 갖고 있는 </a:t>
            </a:r>
            <a:r>
              <a:rPr lang="ko-KR" altLang="en-US" dirty="0" err="1"/>
              <a:t>로우의</a:t>
            </a:r>
            <a:r>
              <a:rPr lang="ko-KR" altLang="en-US" dirty="0"/>
              <a:t> 개수를 계산하여 반환한다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COUNT </a:t>
            </a:r>
            <a:r>
              <a:rPr lang="ko-KR" altLang="en-US" dirty="0"/>
              <a:t>함수는 </a:t>
            </a:r>
            <a:r>
              <a:rPr lang="en-US" altLang="ko-KR" dirty="0"/>
              <a:t>NULL</a:t>
            </a:r>
            <a:r>
              <a:rPr lang="ko-KR" altLang="en-US" dirty="0"/>
              <a:t>값에 대한 개수를 세지 않는다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[SELECT JOB FROM EMP ORDER BY JOB;]</a:t>
            </a:r>
            <a:r>
              <a:rPr lang="ko-KR" altLang="en-US" dirty="0"/>
              <a:t>를 실행하면 같은 내용이 중복되어 있고</a:t>
            </a:r>
            <a:r>
              <a:rPr lang="en-US" altLang="ko-KR" dirty="0"/>
              <a:t>, </a:t>
            </a:r>
            <a:r>
              <a:rPr lang="ko-KR" altLang="en-US" dirty="0"/>
              <a:t>중복된 </a:t>
            </a:r>
            <a:r>
              <a:rPr lang="ko-KR" altLang="en-US" dirty="0" err="1"/>
              <a:t>로우까지</a:t>
            </a:r>
            <a:r>
              <a:rPr lang="ko-KR" altLang="en-US" dirty="0"/>
              <a:t> 카운트 하고 있다는 것을 알 수 있다</a:t>
            </a:r>
            <a:r>
              <a:rPr lang="en-US" altLang="ko-KR" dirty="0"/>
              <a:t>. </a:t>
            </a:r>
            <a:r>
              <a:rPr lang="ko-KR" altLang="en-US" dirty="0" err="1"/>
              <a:t>이럴땐</a:t>
            </a:r>
            <a:r>
              <a:rPr lang="ko-KR" altLang="en-US" dirty="0"/>
              <a:t> </a:t>
            </a:r>
            <a:r>
              <a:rPr lang="ko-KR" altLang="en-US" dirty="0" err="1"/>
              <a:t>중복행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r>
              <a:rPr lang="ko-KR" altLang="en-US" dirty="0" smtClean="0"/>
              <a:t>제거 </a:t>
            </a:r>
            <a:r>
              <a:rPr lang="ko-KR" altLang="en-US" dirty="0"/>
              <a:t>키워드인 </a:t>
            </a:r>
            <a:r>
              <a:rPr lang="en-US" altLang="ko-KR" b="1" dirty="0"/>
              <a:t>DISTINCT</a:t>
            </a:r>
            <a:r>
              <a:rPr lang="ko-KR" altLang="en-US" dirty="0"/>
              <a:t> 함수를 사용하면 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사원 테이블의 사원들 중에서 커미션</a:t>
            </a:r>
            <a:r>
              <a:rPr lang="en-US" altLang="ko-KR" dirty="0"/>
              <a:t>(COMM)</a:t>
            </a:r>
            <a:r>
              <a:rPr lang="ko-KR" altLang="en-US" dirty="0"/>
              <a:t>을 받은 사원의 수를 구하는 쿼리문</a:t>
            </a:r>
          </a:p>
          <a:p>
            <a:endParaRPr lang="ko-KR" altLang="en-US" dirty="0"/>
          </a:p>
        </p:txBody>
      </p:sp>
      <p:pic>
        <p:nvPicPr>
          <p:cNvPr id="13314" name="Picture 2" descr="https://wikidocs.net/images/page/3941/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500570"/>
            <a:ext cx="7858180" cy="19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295</Words>
  <Application>Microsoft Office PowerPoint</Application>
  <PresentationFormat>화면 슬라이드 쇼(4:3)</PresentationFormat>
  <Paragraphs>59</Paragraphs>
  <Slides>12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오라클 2일차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오라클 3일차</dc:title>
  <dc:creator>cjw</dc:creator>
  <cp:lastModifiedBy>sist</cp:lastModifiedBy>
  <cp:revision>5</cp:revision>
  <dcterms:created xsi:type="dcterms:W3CDTF">2018-09-18T23:16:28Z</dcterms:created>
  <dcterms:modified xsi:type="dcterms:W3CDTF">2026-04-14T04:47:11Z</dcterms:modified>
</cp:coreProperties>
</file>