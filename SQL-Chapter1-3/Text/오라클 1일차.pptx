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384" r:id="rId26"/>
    <p:sldId id="385" r:id="rId27"/>
    <p:sldId id="386" r:id="rId28"/>
    <p:sldId id="387" r:id="rId29"/>
    <p:sldId id="388" r:id="rId30"/>
    <p:sldId id="389" r:id="rId31"/>
    <p:sldId id="390" r:id="rId32"/>
    <p:sldId id="391" r:id="rId33"/>
    <p:sldId id="392" r:id="rId34"/>
    <p:sldId id="393" r:id="rId35"/>
    <p:sldId id="394" r:id="rId36"/>
    <p:sldId id="395" r:id="rId37"/>
    <p:sldId id="396" r:id="rId38"/>
    <p:sldId id="397" r:id="rId39"/>
    <p:sldId id="398" r:id="rId40"/>
    <p:sldId id="399" r:id="rId41"/>
    <p:sldId id="400" r:id="rId42"/>
    <p:sldId id="401" r:id="rId43"/>
    <p:sldId id="402" r:id="rId44"/>
    <p:sldId id="403" r:id="rId45"/>
    <p:sldId id="404" r:id="rId46"/>
    <p:sldId id="405" r:id="rId47"/>
    <p:sldId id="406" r:id="rId4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AC5C2-1E80-4095-B041-C35E6F715333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0BE23-4BF5-4A3A-85D7-B6751446DDF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30C34-4905-40C0-BEE9-18AA5E401BDB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1EF7-BD6E-4DF1-B2D8-C86FF8176525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1499-8D96-43BE-BD86-9C83428DA6D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1EF7-BD6E-4DF1-B2D8-C86FF8176525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1499-8D96-43BE-BD86-9C83428DA6D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1EF7-BD6E-4DF1-B2D8-C86FF8176525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1499-8D96-43BE-BD86-9C83428DA6D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1EF7-BD6E-4DF1-B2D8-C86FF8176525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1499-8D96-43BE-BD86-9C83428DA6D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1EF7-BD6E-4DF1-B2D8-C86FF8176525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1499-8D96-43BE-BD86-9C83428DA6D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1EF7-BD6E-4DF1-B2D8-C86FF8176525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1499-8D96-43BE-BD86-9C83428DA6D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1EF7-BD6E-4DF1-B2D8-C86FF8176525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1499-8D96-43BE-BD86-9C83428DA6D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1EF7-BD6E-4DF1-B2D8-C86FF8176525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1499-8D96-43BE-BD86-9C83428DA6D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1EF7-BD6E-4DF1-B2D8-C86FF8176525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1499-8D96-43BE-BD86-9C83428DA6D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1EF7-BD6E-4DF1-B2D8-C86FF8176525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1499-8D96-43BE-BD86-9C83428DA6D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81EF7-BD6E-4DF1-B2D8-C86FF8176525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1499-8D96-43BE-BD86-9C83428DA6D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81EF7-BD6E-4DF1-B2D8-C86FF8176525}" type="datetimeFigureOut">
              <a:rPr lang="ko-KR" altLang="en-US" smtClean="0"/>
              <a:pPr/>
              <a:t>2026-04-13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B1499-8D96-43BE-BD86-9C83428DA6D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힘과 내의 이야기 :: [오라클] 오라클 설치 및 SQL Gate 설치 접속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357298"/>
            <a:ext cx="8072494" cy="34290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3582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데이터베이스란</a:t>
            </a:r>
            <a:r>
              <a:rPr lang="en-US" altLang="ko-KR" b="1" dirty="0" smtClean="0"/>
              <a:t>?  </a:t>
            </a:r>
            <a:r>
              <a:rPr lang="en-US" altLang="ko-KR" b="1" dirty="0" smtClean="0">
                <a:sym typeface="Wingdings" pitchFamily="2" charset="2"/>
              </a:rPr>
              <a:t> 23page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유용한 </a:t>
            </a:r>
            <a:r>
              <a:rPr lang="ko-KR" altLang="en-US" dirty="0"/>
              <a:t>데이터의 집합이다</a:t>
            </a:r>
            <a:r>
              <a:rPr lang="en-US" altLang="ko-KR" dirty="0"/>
              <a:t>.</a:t>
            </a:r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검색에 </a:t>
            </a:r>
            <a:r>
              <a:rPr lang="ko-KR" altLang="en-US" dirty="0"/>
              <a:t>용이하게 데이터를 저장하도록 한 것이다</a:t>
            </a:r>
            <a:r>
              <a:rPr lang="en-US" altLang="ko-KR" dirty="0"/>
              <a:t>.</a:t>
            </a:r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검색뿐만 </a:t>
            </a:r>
            <a:r>
              <a:rPr lang="ko-KR" altLang="en-US" dirty="0"/>
              <a:t>아니라 수정</a:t>
            </a:r>
            <a:r>
              <a:rPr lang="en-US" altLang="ko-KR" dirty="0"/>
              <a:t>, </a:t>
            </a:r>
            <a:r>
              <a:rPr lang="ko-KR" altLang="en-US" dirty="0"/>
              <a:t>삭제까지도 용이하게 </a:t>
            </a:r>
            <a:r>
              <a:rPr lang="ko-KR" altLang="en-US" dirty="0" smtClean="0"/>
              <a:t>한 것이다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35824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데이터 베이스 </a:t>
            </a:r>
            <a:r>
              <a:rPr lang="ko-KR" altLang="en-US" b="1" dirty="0" smtClean="0"/>
              <a:t>정의 </a:t>
            </a:r>
            <a:r>
              <a:rPr lang="en-US" altLang="ko-KR" b="1" dirty="0" smtClean="0">
                <a:sym typeface="Wingdings" pitchFamily="2" charset="2"/>
              </a:rPr>
              <a:t> 25page ~ 26page</a:t>
            </a:r>
            <a:endParaRPr lang="en-US" altLang="ko-KR" b="1" dirty="0" smtClean="0"/>
          </a:p>
          <a:p>
            <a:endParaRPr lang="ko-KR" altLang="en-US" b="1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통합 </a:t>
            </a:r>
            <a:r>
              <a:rPr lang="ko-KR" altLang="en-US" dirty="0"/>
              <a:t>데이터</a:t>
            </a:r>
            <a:r>
              <a:rPr lang="en-US" altLang="ko-KR" dirty="0"/>
              <a:t>(integrated data)</a:t>
            </a:r>
          </a:p>
          <a:p>
            <a:pPr lvl="1"/>
            <a:r>
              <a:rPr lang="ko-KR" altLang="en-US" dirty="0"/>
              <a:t>여러 부서에서 사용하는 데이터를 한 곳에 모아서 공동 관리하는 것이다</a:t>
            </a:r>
            <a:r>
              <a:rPr lang="en-US" altLang="ko-KR" dirty="0"/>
              <a:t>.(</a:t>
            </a:r>
            <a:r>
              <a:rPr lang="ko-KR" altLang="en-US" dirty="0"/>
              <a:t>기억장소 절약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원칙적으로 동일한 데이터의 중복을 허용하지 않지만</a:t>
            </a:r>
            <a:r>
              <a:rPr lang="en-US" altLang="ko-KR" dirty="0"/>
              <a:t>, </a:t>
            </a:r>
            <a:r>
              <a:rPr lang="ko-KR" altLang="en-US" dirty="0"/>
              <a:t>검색의 효율성을 위해서 최소한의 중복을 허용하여 통합한다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저장 </a:t>
            </a:r>
            <a:r>
              <a:rPr lang="ko-KR" altLang="en-US" dirty="0"/>
              <a:t>데이터</a:t>
            </a:r>
            <a:r>
              <a:rPr lang="en-US" altLang="ko-KR" dirty="0"/>
              <a:t>(stored data)</a:t>
            </a:r>
          </a:p>
          <a:p>
            <a:pPr lvl="1"/>
            <a:r>
              <a:rPr lang="ko-KR" altLang="en-US" dirty="0"/>
              <a:t>컴퓨터가 접근할 수 있는 디스크와 같은 저장 매체에 저장된 것이다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pPr>
              <a:buFont typeface="Wingdings"/>
              <a:buChar char="è"/>
            </a:pPr>
            <a:r>
              <a:rPr lang="ko-KR" altLang="en-US" dirty="0" smtClean="0"/>
              <a:t>운영데이터</a:t>
            </a:r>
            <a:r>
              <a:rPr lang="en-US" altLang="ko-KR" dirty="0"/>
              <a:t>(operational data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1"/>
            <a:r>
              <a:rPr lang="ko-KR" altLang="en-US" dirty="0"/>
              <a:t>조직의 운영에 기본적으로 반드시 필요한 데이터를 저장하는 것이다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조직의 고유한 기능을 수행하는데 필수적인 데이터를 저장하는 것이다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일시적으로 필요한 임시 데이터나 단순한 입출력 데이터는 운영데이터에 해당하지 않는다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공용 </a:t>
            </a:r>
            <a:r>
              <a:rPr lang="ko-KR" altLang="en-US" dirty="0"/>
              <a:t>데이터</a:t>
            </a:r>
            <a:r>
              <a:rPr lang="en-US" altLang="ko-KR" dirty="0"/>
              <a:t>(shared data)</a:t>
            </a:r>
          </a:p>
          <a:p>
            <a:pPr lvl="1"/>
            <a:r>
              <a:rPr lang="ko-KR" altLang="en-US" dirty="0"/>
              <a:t>한 조직의 여러 운용 프로그램이 공동으로 사용하는 것이다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 err="1"/>
              <a:t>여러사용자가</a:t>
            </a:r>
            <a:r>
              <a:rPr lang="ko-KR" altLang="en-US" dirty="0"/>
              <a:t> 서로 다른 목적으로 공유한다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35824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데이터 베이스 </a:t>
            </a:r>
            <a:r>
              <a:rPr lang="ko-KR" altLang="en-US" b="1" dirty="0" smtClean="0"/>
              <a:t>특징  </a:t>
            </a:r>
            <a:r>
              <a:rPr lang="en-US" altLang="ko-KR" b="1" dirty="0" smtClean="0">
                <a:sym typeface="Wingdings" pitchFamily="2" charset="2"/>
              </a:rPr>
              <a:t> 26page ~ 27page</a:t>
            </a:r>
            <a:endParaRPr lang="en-US" altLang="ko-KR" b="1" dirty="0" smtClean="0"/>
          </a:p>
          <a:p>
            <a:endParaRPr lang="ko-KR" altLang="en-US" b="1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실시간 </a:t>
            </a:r>
            <a:r>
              <a:rPr lang="ko-KR" altLang="en-US" dirty="0" err="1"/>
              <a:t>접근성</a:t>
            </a:r>
            <a:endParaRPr lang="ko-KR" altLang="en-US" dirty="0"/>
          </a:p>
          <a:p>
            <a:pPr lvl="1"/>
            <a:r>
              <a:rPr lang="ko-KR" altLang="en-US" dirty="0"/>
              <a:t>수시적이고 비정형적인 질의</a:t>
            </a:r>
            <a:r>
              <a:rPr lang="en-US" altLang="ko-KR" dirty="0"/>
              <a:t>(query)</a:t>
            </a:r>
            <a:r>
              <a:rPr lang="ko-KR" altLang="en-US" dirty="0"/>
              <a:t>에 대하여 실시간 처리로 응답할 수 있어야 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계속적인 </a:t>
            </a:r>
            <a:r>
              <a:rPr lang="ko-KR" altLang="en-US" dirty="0"/>
              <a:t>변화</a:t>
            </a:r>
          </a:p>
          <a:p>
            <a:pPr lvl="1"/>
            <a:r>
              <a:rPr lang="ko-KR" altLang="en-US" dirty="0"/>
              <a:t>새로운 데이터의 삽입</a:t>
            </a:r>
            <a:r>
              <a:rPr lang="en-US" altLang="ko-KR" dirty="0"/>
              <a:t>(insertion), </a:t>
            </a:r>
            <a:r>
              <a:rPr lang="ko-KR" altLang="en-US" dirty="0"/>
              <a:t>기존 데이터의 삭제</a:t>
            </a:r>
            <a:r>
              <a:rPr lang="en-US" altLang="ko-KR" dirty="0"/>
              <a:t>(deletion), </a:t>
            </a:r>
            <a:r>
              <a:rPr lang="ko-KR" altLang="en-US" dirty="0"/>
              <a:t>갱신</a:t>
            </a:r>
            <a:r>
              <a:rPr lang="en-US" altLang="ko-KR" dirty="0"/>
              <a:t>(update)</a:t>
            </a:r>
            <a:r>
              <a:rPr lang="ko-KR" altLang="en-US" dirty="0"/>
              <a:t>으로 항상 그 내용이 변하고</a:t>
            </a:r>
            <a:r>
              <a:rPr lang="en-US" altLang="ko-KR" dirty="0"/>
              <a:t>, </a:t>
            </a:r>
            <a:r>
              <a:rPr lang="ko-KR" altLang="en-US" dirty="0"/>
              <a:t>또 그 속에서 현재의 정확한 데이터를 유지해야 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동시 </a:t>
            </a:r>
            <a:r>
              <a:rPr lang="ko-KR" altLang="en-US" dirty="0"/>
              <a:t>공유</a:t>
            </a:r>
          </a:p>
          <a:p>
            <a:pPr lvl="1"/>
            <a:r>
              <a:rPr lang="ko-KR" altLang="en-US" dirty="0"/>
              <a:t>같은 내용의 데이터를 여러 사람이 서로 다른 방법으로 동시에 공용할 수 있어야 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내용에 </a:t>
            </a:r>
            <a:r>
              <a:rPr lang="ko-KR" altLang="en-US" dirty="0"/>
              <a:t>의한 참조</a:t>
            </a:r>
          </a:p>
          <a:p>
            <a:pPr lvl="1"/>
            <a:r>
              <a:rPr lang="ko-KR" altLang="en-US" dirty="0"/>
              <a:t>데이터베이스 내에 있는 데이터 레코드들은 주소나 위치에 의해서가 아니라 사용자가 요구하는 데이터의 내용에 따라 참조해야 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ikidocs.net/images/page/3902/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142984"/>
            <a:ext cx="8715436" cy="542928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57158" y="214290"/>
            <a:ext cx="728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데이터베이스 시스템  </a:t>
            </a:r>
            <a:r>
              <a:rPr lang="en-US" altLang="ko-KR" dirty="0" smtClean="0">
                <a:sym typeface="Wingdings" pitchFamily="2" charset="2"/>
              </a:rPr>
              <a:t> 45page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428736"/>
            <a:ext cx="8001056" cy="4857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00034" y="214290"/>
            <a:ext cx="671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데이터베이스 시스템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(RDBMS) 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 45page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034" y="214290"/>
            <a:ext cx="671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데이터베이스 시스템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(RDBMS) 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 47page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714356"/>
            <a:ext cx="8143932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  </a:t>
            </a:r>
            <a:r>
              <a:rPr 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 </a:t>
            </a:r>
            <a:r>
              <a:rPr lang="ko-KR" alt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데이터베이스 시스템이란</a:t>
            </a:r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1400" dirty="0"/>
              <a:t> </a:t>
            </a:r>
            <a:r>
              <a:rPr lang="en-US" sz="1400" dirty="0" smtClean="0"/>
              <a:t>  ① </a:t>
            </a:r>
            <a:r>
              <a:rPr lang="ko-KR" altLang="en-US" sz="1400" dirty="0"/>
              <a:t>응용프로그램과 데이터의 중재자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② DBMS</a:t>
            </a:r>
            <a:r>
              <a:rPr lang="ko-KR" altLang="en-US" sz="1400" dirty="0"/>
              <a:t>를 통해서만 데이터에 접근이 가능함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③ </a:t>
            </a:r>
            <a:r>
              <a:rPr lang="ko-KR" altLang="en-US" sz="1400" dirty="0"/>
              <a:t>데이터베이스의 구성</a:t>
            </a:r>
            <a:r>
              <a:rPr lang="en-US" sz="1400" dirty="0"/>
              <a:t>, </a:t>
            </a:r>
            <a:r>
              <a:rPr lang="ko-KR" altLang="en-US" sz="1400" dirty="0"/>
              <a:t>접근방법</a:t>
            </a:r>
            <a:r>
              <a:rPr lang="en-US" sz="1400" dirty="0"/>
              <a:t>, </a:t>
            </a:r>
            <a:r>
              <a:rPr lang="ko-KR" altLang="en-US" sz="1400" dirty="0"/>
              <a:t>관리 유지에 대한 모든 책임을</a:t>
            </a:r>
            <a:r>
              <a:rPr lang="en-US" sz="1400" dirty="0"/>
              <a:t> </a:t>
            </a:r>
            <a:endParaRPr lang="en-US" sz="1400" dirty="0" smtClean="0"/>
          </a:p>
          <a:p>
            <a:r>
              <a:rPr lang="en-US" sz="1400" dirty="0"/>
              <a:t> </a:t>
            </a:r>
            <a:r>
              <a:rPr lang="en-US" sz="1400" dirty="0" smtClean="0"/>
              <a:t>      DBMS</a:t>
            </a:r>
            <a:r>
              <a:rPr lang="ko-KR" altLang="en-US" sz="1400" dirty="0"/>
              <a:t>가 지고 있음을 </a:t>
            </a:r>
            <a:r>
              <a:rPr lang="ko-KR" altLang="en-US" sz="1400" dirty="0" smtClean="0"/>
              <a:t>의미 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en-US" altLang="ko-K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2) </a:t>
            </a:r>
            <a:r>
              <a:rPr lang="ko-KR" alt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필수 기능</a:t>
            </a:r>
            <a:endParaRPr lang="en-US" altLang="ko-K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1400" dirty="0" smtClean="0"/>
              <a:t>   ① </a:t>
            </a:r>
            <a:r>
              <a:rPr lang="ko-KR" altLang="en-US" sz="1400" dirty="0"/>
              <a:t>정의 기능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 - </a:t>
            </a:r>
            <a:r>
              <a:rPr lang="ko-KR" altLang="en-US" sz="1400" dirty="0"/>
              <a:t>응용프로그램과 데이터베이스가 서로 인터페이스를</a:t>
            </a:r>
            <a:r>
              <a:rPr lang="en-US" sz="1400" dirty="0"/>
              <a:t> </a:t>
            </a:r>
            <a:r>
              <a:rPr lang="ko-KR" altLang="en-US" sz="1400" dirty="0"/>
              <a:t>할 수 있는 방법을 제공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 - </a:t>
            </a:r>
            <a:r>
              <a:rPr lang="ko-KR" altLang="en-US" sz="1400" dirty="0"/>
              <a:t>데이터정의에 </a:t>
            </a:r>
            <a:r>
              <a:rPr lang="ko-KR" altLang="en-US" sz="1400" dirty="0" err="1"/>
              <a:t>포함되어야할</a:t>
            </a:r>
            <a:r>
              <a:rPr lang="ko-KR" altLang="en-US" sz="1400" dirty="0"/>
              <a:t> 내용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     · DBMS</a:t>
            </a:r>
            <a:r>
              <a:rPr lang="ko-KR" altLang="en-US" sz="1400" dirty="0"/>
              <a:t>가 지원하는 데이터 모델에 맞게 기술되어야 함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     · </a:t>
            </a:r>
            <a:r>
              <a:rPr lang="ko-KR" altLang="en-US" sz="1400" dirty="0"/>
              <a:t>데이터의 물리적 구조의 명세를 포함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     · </a:t>
            </a:r>
            <a:r>
              <a:rPr lang="ko-KR" altLang="en-US" sz="1400" dirty="0"/>
              <a:t>데이터의 논리적</a:t>
            </a:r>
            <a:r>
              <a:rPr lang="en-US" sz="1400" dirty="0"/>
              <a:t>, </a:t>
            </a:r>
            <a:r>
              <a:rPr lang="ko-KR" altLang="en-US" sz="1400" dirty="0"/>
              <a:t>물리적 구조 사이 상호 변환이 가능하도록 사상을 명세하여야 함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② </a:t>
            </a:r>
            <a:r>
              <a:rPr lang="ko-KR" altLang="en-US" sz="1400" dirty="0"/>
              <a:t>조작 기능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 - </a:t>
            </a:r>
            <a:r>
              <a:rPr lang="ko-KR" altLang="en-US" sz="1400" dirty="0"/>
              <a:t>사용자와 데이터베이스 사이의 인터페이스를 위한 수단을 제공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 - </a:t>
            </a:r>
            <a:r>
              <a:rPr lang="ko-KR" altLang="en-US" sz="1400" dirty="0"/>
              <a:t>데이터의 검색</a:t>
            </a:r>
            <a:r>
              <a:rPr lang="en-US" sz="1400" dirty="0"/>
              <a:t>, </a:t>
            </a:r>
            <a:r>
              <a:rPr lang="ko-KR" altLang="en-US" sz="1400" dirty="0"/>
              <a:t>갱신</a:t>
            </a:r>
            <a:r>
              <a:rPr lang="en-US" sz="1400" dirty="0"/>
              <a:t>, </a:t>
            </a:r>
            <a:r>
              <a:rPr lang="ko-KR" altLang="en-US" sz="1400" dirty="0"/>
              <a:t>삽입</a:t>
            </a:r>
            <a:r>
              <a:rPr lang="en-US" sz="1400" dirty="0"/>
              <a:t>, </a:t>
            </a:r>
            <a:r>
              <a:rPr lang="ko-KR" altLang="en-US" sz="1400" dirty="0"/>
              <a:t>삭제 등</a:t>
            </a:r>
            <a:r>
              <a:rPr lang="en-US" sz="1400" dirty="0"/>
              <a:t> </a:t>
            </a:r>
            <a:r>
              <a:rPr lang="ko-KR" altLang="en-US" sz="1400" dirty="0"/>
              <a:t>데이터베이스 연산을 지원하는 도구</a:t>
            </a:r>
            <a:r>
              <a:rPr lang="en-US" sz="1400" dirty="0"/>
              <a:t>(</a:t>
            </a:r>
            <a:r>
              <a:rPr lang="ko-KR" altLang="en-US" sz="1400" dirty="0"/>
              <a:t>데이터 언어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dirty="0"/>
              <a:t>       - </a:t>
            </a:r>
            <a:r>
              <a:rPr lang="ko-KR" altLang="en-US" sz="1400" dirty="0"/>
              <a:t>데이터언어의 요건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    · </a:t>
            </a:r>
            <a:r>
              <a:rPr lang="ko-KR" altLang="en-US" sz="1400" dirty="0"/>
              <a:t>사용하기 쉽고</a:t>
            </a:r>
            <a:r>
              <a:rPr lang="en-US" sz="1400" dirty="0"/>
              <a:t> </a:t>
            </a:r>
            <a:r>
              <a:rPr lang="ko-KR" altLang="en-US" sz="1400" dirty="0"/>
              <a:t>자연스러워야 함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    · </a:t>
            </a:r>
            <a:r>
              <a:rPr lang="ko-KR" altLang="en-US" sz="1400" dirty="0"/>
              <a:t>명확하고 </a:t>
            </a:r>
            <a:r>
              <a:rPr lang="ko-KR" altLang="en-US" sz="1400" dirty="0" err="1"/>
              <a:t>완전하야야</a:t>
            </a:r>
            <a:r>
              <a:rPr lang="ko-KR" altLang="en-US" sz="1400" dirty="0"/>
              <a:t> 함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    · </a:t>
            </a:r>
            <a:r>
              <a:rPr lang="ko-KR" altLang="en-US" sz="1400" dirty="0"/>
              <a:t>효율적이어야 함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③ </a:t>
            </a:r>
            <a:r>
              <a:rPr lang="ko-KR" altLang="en-US" sz="1400" dirty="0"/>
              <a:t>제어 기능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 - </a:t>
            </a:r>
            <a:r>
              <a:rPr lang="ko-KR" altLang="en-US" sz="1400" dirty="0"/>
              <a:t>공용의 목적으로 관리되는</a:t>
            </a:r>
            <a:r>
              <a:rPr lang="en-US" sz="1400" dirty="0"/>
              <a:t> </a:t>
            </a:r>
            <a:r>
              <a:rPr lang="ko-KR" altLang="en-US" sz="1400" dirty="0"/>
              <a:t>내용에 대해 정확성과 안전성을 유지할 수 있는 데이터 제어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</a:t>
            </a:r>
            <a:r>
              <a:rPr lang="ko-KR" altLang="en-US" sz="1400" dirty="0" smtClean="0"/>
              <a:t>기능을 가져야 함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 - </a:t>
            </a:r>
            <a:r>
              <a:rPr lang="ko-KR" altLang="en-US" sz="1400" dirty="0"/>
              <a:t>데이터 제어기능의</a:t>
            </a:r>
            <a:r>
              <a:rPr lang="en-US" sz="1400" dirty="0"/>
              <a:t> </a:t>
            </a:r>
            <a:r>
              <a:rPr lang="ko-KR" altLang="en-US" sz="1400" dirty="0"/>
              <a:t>최소 요건 세가지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    · </a:t>
            </a:r>
            <a:r>
              <a:rPr lang="ko-KR" altLang="en-US" sz="1400" dirty="0"/>
              <a:t>데이터의 갱신</a:t>
            </a:r>
            <a:r>
              <a:rPr lang="en-US" sz="1400" dirty="0"/>
              <a:t>,</a:t>
            </a:r>
            <a:r>
              <a:rPr lang="ko-KR" altLang="en-US" sz="1400" dirty="0"/>
              <a:t>삽입</a:t>
            </a:r>
            <a:r>
              <a:rPr lang="en-US" sz="1400" dirty="0"/>
              <a:t>,</a:t>
            </a:r>
            <a:r>
              <a:rPr lang="ko-KR" altLang="en-US" sz="1400" dirty="0"/>
              <a:t>삭제 작업이 정확히 수행되도록 하여 </a:t>
            </a:r>
            <a:r>
              <a:rPr lang="ko-KR" altLang="en-US" sz="1400" dirty="0" err="1"/>
              <a:t>무결성이</a:t>
            </a:r>
            <a:r>
              <a:rPr lang="ko-KR" altLang="en-US" sz="1400" dirty="0"/>
              <a:t> 파괴되지 않도록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</a:t>
            </a:r>
            <a:r>
              <a:rPr lang="ko-KR" altLang="en-US" sz="1400" dirty="0" smtClean="0"/>
              <a:t>제어하여야 </a:t>
            </a:r>
            <a:r>
              <a:rPr lang="ko-KR" altLang="en-US" sz="1400" dirty="0"/>
              <a:t>함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    · </a:t>
            </a:r>
            <a:r>
              <a:rPr lang="ko-KR" altLang="en-US" sz="1400" dirty="0"/>
              <a:t>정당하게 허가된 사용자만 데이터에 접근하도록</a:t>
            </a:r>
            <a:r>
              <a:rPr lang="en-US" sz="1400" dirty="0"/>
              <a:t> </a:t>
            </a:r>
            <a:r>
              <a:rPr lang="ko-KR" altLang="en-US" sz="1400" dirty="0"/>
              <a:t>권한 검사 및 보안을 유지하여야 함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    · </a:t>
            </a:r>
            <a:r>
              <a:rPr lang="ko-KR" altLang="en-US" sz="1400" dirty="0" smtClean="0"/>
              <a:t>여러 사용자가 </a:t>
            </a:r>
            <a:r>
              <a:rPr lang="ko-KR" altLang="en-US" sz="1400" dirty="0"/>
              <a:t>접근하더라도</a:t>
            </a:r>
            <a:r>
              <a:rPr lang="en-US" sz="1400" dirty="0"/>
              <a:t> </a:t>
            </a:r>
            <a:r>
              <a:rPr lang="ko-KR" altLang="en-US" sz="1400" dirty="0"/>
              <a:t>항상 정확성이 유지되도록 병행제어를 할 수 있어야 함</a:t>
            </a:r>
            <a:r>
              <a:rPr lang="en-US" sz="1400" dirty="0"/>
              <a:t/>
            </a:r>
            <a:br>
              <a:rPr lang="en-US" sz="1400" dirty="0"/>
            </a:br>
            <a:endParaRPr lang="en-US" altLang="ko-KR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034" y="214290"/>
            <a:ext cx="671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1-1.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데이터베이스 시스템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(RDBMS) 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 44page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714356"/>
            <a:ext cx="814393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400" dirty="0" smtClean="0"/>
              <a:t>  </a:t>
            </a:r>
            <a:r>
              <a:rPr lang="en-US" sz="1400" b="1" dirty="0" smtClean="0"/>
              <a:t>3) DBMS</a:t>
            </a:r>
            <a:r>
              <a:rPr lang="ko-KR" altLang="en-US" sz="1400" b="1" dirty="0"/>
              <a:t>의 장점 및 </a:t>
            </a:r>
            <a:r>
              <a:rPr lang="ko-KR" altLang="en-US" sz="1400" b="1" dirty="0" smtClean="0"/>
              <a:t>단점</a:t>
            </a:r>
            <a:endParaRPr lang="en-US" altLang="ko-KR" sz="1400" b="1" dirty="0" smtClean="0"/>
          </a:p>
          <a:p>
            <a:pPr latinLnBrk="0"/>
            <a:endParaRPr lang="ko-KR" altLang="en-US" sz="1400" dirty="0"/>
          </a:p>
          <a:p>
            <a:pPr latinLnBrk="0"/>
            <a:r>
              <a:rPr lang="en-US" sz="1400" b="1" dirty="0"/>
              <a:t> </a:t>
            </a:r>
            <a:r>
              <a:rPr lang="ko-KR" altLang="en-US" sz="1400" b="1" dirty="0"/>
              <a:t>장점</a:t>
            </a:r>
            <a:endParaRPr lang="ko-KR" altLang="en-US" sz="1400" dirty="0"/>
          </a:p>
          <a:p>
            <a:pPr latinLnBrk="0"/>
            <a:r>
              <a:rPr lang="en-US" sz="1400" b="1" dirty="0"/>
              <a:t> </a:t>
            </a:r>
            <a:endParaRPr lang="ko-KR" altLang="en-US" sz="1400" dirty="0"/>
          </a:p>
          <a:p>
            <a:pPr latinLnBrk="0"/>
            <a:r>
              <a:rPr lang="en-US" sz="1400" dirty="0"/>
              <a:t>   ① </a:t>
            </a:r>
            <a:r>
              <a:rPr lang="ko-KR" altLang="en-US" sz="1400" dirty="0"/>
              <a:t>데이터 중복의 최소화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② </a:t>
            </a:r>
            <a:r>
              <a:rPr lang="ko-KR" altLang="en-US" sz="1400" dirty="0"/>
              <a:t>데이터의 공용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 ③ </a:t>
            </a:r>
            <a:r>
              <a:rPr lang="ko-KR" altLang="en-US" sz="1400" dirty="0"/>
              <a:t>데이터의 일관성 유지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 ④ </a:t>
            </a:r>
            <a:r>
              <a:rPr lang="ko-KR" altLang="en-US" sz="1400" dirty="0"/>
              <a:t>데이터의 </a:t>
            </a:r>
            <a:r>
              <a:rPr lang="ko-KR" altLang="en-US" sz="1400" dirty="0" err="1"/>
              <a:t>무결성</a:t>
            </a:r>
            <a:r>
              <a:rPr lang="ko-KR" altLang="en-US" sz="1400" dirty="0"/>
              <a:t> 유지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 ⑤ </a:t>
            </a:r>
            <a:r>
              <a:rPr lang="ko-KR" altLang="en-US" sz="1400" dirty="0"/>
              <a:t>데이터의 보안 보장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⑥ </a:t>
            </a:r>
            <a:r>
              <a:rPr lang="ko-KR" altLang="en-US" sz="1400" dirty="0"/>
              <a:t>표준화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 ⑦ </a:t>
            </a:r>
            <a:r>
              <a:rPr lang="ko-KR" altLang="en-US" sz="1400" dirty="0"/>
              <a:t>전체 데이터 요구의 </a:t>
            </a:r>
            <a:r>
              <a:rPr lang="ko-KR" altLang="en-US" sz="1400" dirty="0" smtClean="0"/>
              <a:t>조정 </a:t>
            </a:r>
            <a:endParaRPr lang="en-US" altLang="ko-KR" sz="1400" dirty="0" smtClean="0"/>
          </a:p>
          <a:p>
            <a:pPr latinLnBrk="0"/>
            <a:endParaRPr lang="en-US" altLang="ko-KR" sz="1400" dirty="0" smtClean="0"/>
          </a:p>
          <a:p>
            <a:pPr latinLnBrk="0"/>
            <a:r>
              <a:rPr lang="ko-KR" altLang="en-US" sz="1400" b="1" dirty="0" smtClean="0"/>
              <a:t> 단점</a:t>
            </a:r>
            <a:endParaRPr lang="en-US" altLang="ko-KR" sz="1400" b="1" dirty="0" smtClean="0"/>
          </a:p>
          <a:p>
            <a:pPr latinLnBrk="0"/>
            <a:endParaRPr lang="ko-KR" altLang="en-US" sz="1400" dirty="0"/>
          </a:p>
          <a:p>
            <a:pPr latinLnBrk="0"/>
            <a:r>
              <a:rPr lang="en-US" sz="1400" b="1" dirty="0"/>
              <a:t> </a:t>
            </a:r>
            <a:r>
              <a:rPr lang="en-US" sz="1400" dirty="0"/>
              <a:t>  ① </a:t>
            </a:r>
            <a:r>
              <a:rPr lang="ko-KR" altLang="en-US" sz="1400" dirty="0"/>
              <a:t>운영비의 증대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② </a:t>
            </a:r>
            <a:r>
              <a:rPr lang="ko-KR" altLang="en-US" sz="1400" dirty="0"/>
              <a:t>특정 응용 프로그램의 복잡화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 ③ </a:t>
            </a:r>
            <a:r>
              <a:rPr lang="ko-KR" altLang="en-US" sz="1400" dirty="0"/>
              <a:t>복잡한 백업과 회복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 ④ </a:t>
            </a:r>
            <a:r>
              <a:rPr lang="ko-KR" altLang="en-US" sz="1400" dirty="0"/>
              <a:t>시스템의 취약성</a:t>
            </a:r>
          </a:p>
          <a:p>
            <a:r>
              <a:rPr lang="en-US" sz="1400" dirty="0"/>
              <a:t/>
            </a:r>
            <a:br>
              <a:rPr lang="en-US" sz="1400" dirty="0"/>
            </a:br>
            <a:r>
              <a:rPr lang="en-US" sz="1400" b="1" dirty="0" smtClean="0"/>
              <a:t>4)  </a:t>
            </a:r>
            <a:r>
              <a:rPr lang="ko-KR" altLang="en-US" sz="1400" b="1" dirty="0"/>
              <a:t>데이터 독립성</a:t>
            </a:r>
            <a:r>
              <a:rPr lang="en-US" sz="1400" b="1" dirty="0"/>
              <a:t/>
            </a:r>
            <a:br>
              <a:rPr lang="en-US" sz="1400" b="1" dirty="0"/>
            </a:br>
            <a:r>
              <a:rPr lang="en-US" sz="1400" b="1" dirty="0"/>
              <a:t>﻿</a:t>
            </a:r>
            <a:r>
              <a:rPr lang="en-US" sz="1400" dirty="0"/>
              <a:t>   </a:t>
            </a:r>
            <a:r>
              <a:rPr lang="ko-KR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데이터의 논리적 구조나 물리적 구조가 변경되더라도 응용 프로그램이 영향을 받지 </a:t>
            </a:r>
            <a:r>
              <a:rPr lang="ko-KR" altLang="en-US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않는 것</a:t>
            </a: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① </a:t>
            </a:r>
            <a:r>
              <a:rPr lang="ko-KR" altLang="en-US" sz="1400" dirty="0"/>
              <a:t>논리적 데이터 독립성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 </a:t>
            </a:r>
            <a:r>
              <a:rPr lang="ko-KR" altLang="en-US" sz="1400" dirty="0"/>
              <a:t>기존</a:t>
            </a:r>
            <a:r>
              <a:rPr lang="en-US" sz="1400" dirty="0"/>
              <a:t> </a:t>
            </a:r>
            <a:r>
              <a:rPr lang="ko-KR" altLang="en-US" sz="1400" dirty="0"/>
              <a:t>응용 프로그램에 영향을 주지 않고 데이터베이스의</a:t>
            </a:r>
            <a:r>
              <a:rPr lang="en-US" sz="1400" dirty="0"/>
              <a:t> </a:t>
            </a:r>
            <a:r>
              <a:rPr lang="ko-KR" altLang="en-US" sz="1400" dirty="0"/>
              <a:t>논리적 구조를 변경시킬 수 있는 능력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② </a:t>
            </a:r>
            <a:r>
              <a:rPr lang="ko-KR" altLang="en-US" sz="1400" dirty="0"/>
              <a:t>물리적 데이터 독립성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       </a:t>
            </a:r>
            <a:r>
              <a:rPr lang="ko-KR" altLang="en-US" sz="1400" dirty="0"/>
              <a:t>기존 응용 프로그램의 수정을 요구하지 않고 데이터베이스의 물리적 구조를 변경할 수 있는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</a:t>
            </a:r>
            <a:r>
              <a:rPr lang="ko-KR" altLang="en-US" sz="1400" dirty="0" smtClean="0"/>
              <a:t>능력</a:t>
            </a:r>
            <a:r>
              <a:rPr lang="en-US" sz="1400" dirty="0"/>
              <a:t/>
            </a:r>
            <a:br>
              <a:rPr lang="en-US" sz="1400" dirty="0"/>
            </a:br>
            <a:endParaRPr lang="en-US" altLang="ko-KR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0034" y="214290"/>
            <a:ext cx="671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데이터베이스 언어 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 46page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714356"/>
            <a:ext cx="814393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400" dirty="0" smtClean="0"/>
              <a:t>  </a:t>
            </a:r>
            <a:r>
              <a:rPr lang="ko-KR" alt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데이터베이스를 정의하고 접근하기 위한 통신수단</a:t>
            </a:r>
            <a:br>
              <a:rPr lang="ko-KR" alt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ko-KR" alt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 사용 목적에 따라 데이터 </a:t>
            </a:r>
            <a:r>
              <a:rPr lang="ko-KR" altLang="en-US" sz="1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정의어</a:t>
            </a:r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ko-KR" altLang="en-US" sz="1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조작어</a:t>
            </a:r>
            <a:r>
              <a:rPr lang="en-US" altLang="ko-K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제어어로 구분함</a:t>
            </a:r>
            <a:r>
              <a:rPr lang="ko-KR" altLang="en-US" sz="1400" dirty="0" smtClean="0"/>
              <a:t/>
            </a:r>
            <a:br>
              <a:rPr lang="ko-KR" altLang="en-US" sz="1400" dirty="0" smtClean="0"/>
            </a:br>
            <a:r>
              <a:rPr lang="ko-KR" altLang="en-US" sz="1400" dirty="0" smtClean="0"/>
              <a:t/>
            </a:r>
            <a:br>
              <a:rPr lang="ko-KR" altLang="en-US" sz="1400" dirty="0" smtClean="0"/>
            </a:br>
            <a:r>
              <a:rPr lang="ko-KR" altLang="en-US" sz="1400" dirty="0" smtClean="0"/>
              <a:t> </a:t>
            </a:r>
            <a:r>
              <a:rPr lang="ko-KR" altLang="en-US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 </a:t>
            </a:r>
            <a:r>
              <a:rPr lang="ko-KR" altLang="en-US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ko-KR" altLang="en-US" sz="1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정의어</a:t>
            </a:r>
            <a:r>
              <a:rPr lang="en-US" altLang="ko-K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(DDL: Data Definition Language)</a:t>
            </a:r>
          </a:p>
          <a:p>
            <a:pPr latinLnBrk="0"/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    - </a:t>
            </a:r>
            <a:r>
              <a:rPr lang="ko-KR" altLang="en-US" sz="1400" dirty="0" smtClean="0"/>
              <a:t>데이터 베이스 스키마를 </a:t>
            </a:r>
            <a:r>
              <a:rPr lang="en-US" altLang="ko-KR" sz="1400" dirty="0" smtClean="0"/>
              <a:t>DBMS</a:t>
            </a:r>
            <a:r>
              <a:rPr lang="ko-KR" altLang="en-US" sz="1400" dirty="0" smtClean="0"/>
              <a:t>가 이해할 수 있도록 기술하는데 이용</a:t>
            </a:r>
            <a:br>
              <a:rPr lang="ko-KR" altLang="en-US" sz="1400" dirty="0" smtClean="0"/>
            </a:br>
            <a:r>
              <a:rPr lang="ko-KR" altLang="en-US" sz="1400" dirty="0" smtClean="0"/>
              <a:t>    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데이터베이스 관리자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설계자가 주로 사용</a:t>
            </a:r>
            <a:endParaRPr lang="en-US" altLang="ko-KR" sz="1400" dirty="0" smtClean="0"/>
          </a:p>
          <a:p>
            <a:pPr latinLnBrk="0"/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 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 </a:t>
            </a:r>
            <a:r>
              <a:rPr lang="ko-KR" altLang="en-US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ko-KR" altLang="en-US" sz="1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조작어</a:t>
            </a:r>
            <a:r>
              <a:rPr lang="en-US" altLang="ko-K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(DML: Data Manipulation Language)</a:t>
            </a:r>
          </a:p>
          <a:p>
            <a:pPr latinLnBrk="0"/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    - </a:t>
            </a:r>
            <a:r>
              <a:rPr lang="ko-KR" altLang="en-US" sz="1400" dirty="0" smtClean="0"/>
              <a:t>사용자가 </a:t>
            </a:r>
            <a:r>
              <a:rPr lang="en-US" altLang="ko-KR" sz="1400" dirty="0" smtClean="0"/>
              <a:t>DMS</a:t>
            </a:r>
            <a:r>
              <a:rPr lang="ko-KR" altLang="en-US" sz="1400" dirty="0" smtClean="0"/>
              <a:t>로 하여금 원하는 데이터를 처리하게끔 </a:t>
            </a:r>
            <a:r>
              <a:rPr lang="ko-KR" altLang="en-US" sz="1400" dirty="0" err="1" smtClean="0"/>
              <a:t>명세하는</a:t>
            </a:r>
            <a:r>
              <a:rPr lang="ko-KR" altLang="en-US" sz="1400" dirty="0" smtClean="0"/>
              <a:t> 도구</a:t>
            </a:r>
            <a:br>
              <a:rPr lang="ko-KR" altLang="en-US" sz="1400" dirty="0" smtClean="0"/>
            </a:br>
            <a:r>
              <a:rPr lang="ko-KR" altLang="en-US" sz="1400" dirty="0" smtClean="0"/>
              <a:t>    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사용자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응용 프로그램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DBMS</a:t>
            </a:r>
            <a:r>
              <a:rPr lang="ko-KR" altLang="en-US" sz="1400" dirty="0" smtClean="0"/>
              <a:t>간 인터페이스 제공</a:t>
            </a:r>
            <a:br>
              <a:rPr lang="ko-KR" altLang="en-US" sz="1400" dirty="0" smtClean="0"/>
            </a:br>
            <a:r>
              <a:rPr lang="ko-KR" altLang="en-US" sz="1400" dirty="0" smtClean="0"/>
              <a:t>    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검색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삽입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삭제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변경등을</a:t>
            </a:r>
            <a:r>
              <a:rPr lang="ko-KR" altLang="en-US" sz="1400" dirty="0" smtClean="0"/>
              <a:t> 포함</a:t>
            </a:r>
            <a:br>
              <a:rPr lang="ko-KR" altLang="en-US" sz="1400" dirty="0" smtClean="0"/>
            </a:br>
            <a:r>
              <a:rPr lang="ko-KR" altLang="en-US" sz="1400" dirty="0" smtClean="0"/>
              <a:t>      * 데이터 언어의 완전성</a:t>
            </a:r>
            <a:br>
              <a:rPr lang="ko-KR" altLang="en-US" sz="1400" dirty="0" smtClean="0"/>
            </a:br>
            <a:r>
              <a:rPr lang="ko-KR" altLang="en-US" sz="1400" dirty="0" smtClean="0"/>
              <a:t>        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사용자가 원하는 데이터베이스의 어떤 객체도 추출할 수 있고 처리할 수 있으며 </a:t>
            </a:r>
            <a:endParaRPr lang="en-US" altLang="ko-KR" sz="1400" dirty="0" smtClean="0"/>
          </a:p>
          <a:p>
            <a:pPr latinLnBrk="0"/>
            <a:r>
              <a:rPr lang="en-US" altLang="ko-KR" sz="1400" dirty="0"/>
              <a:t> </a:t>
            </a:r>
            <a:r>
              <a:rPr lang="en-US" altLang="ko-KR" sz="1400" dirty="0" smtClean="0"/>
              <a:t>         </a:t>
            </a:r>
            <a:r>
              <a:rPr lang="ko-KR" altLang="en-US" sz="1400" dirty="0" smtClean="0"/>
              <a:t>어떤 관계도 표현할 수 있는 데이터 언어의 능력을 말함</a:t>
            </a:r>
            <a:endParaRPr lang="en-US" altLang="ko-KR" sz="1400" dirty="0" smtClean="0"/>
          </a:p>
          <a:p>
            <a:pPr latinLnBrk="0"/>
            <a:r>
              <a:rPr lang="ko-KR" altLang="en-US" sz="1400" dirty="0" smtClean="0"/>
              <a:t/>
            </a:r>
            <a:br>
              <a:rPr lang="ko-KR" altLang="en-US" sz="1400" dirty="0" smtClean="0"/>
            </a:br>
            <a:r>
              <a:rPr lang="ko-KR" altLang="en-US" sz="1400" dirty="0" smtClean="0"/>
              <a:t> </a:t>
            </a:r>
            <a:r>
              <a:rPr lang="ko-KR" altLang="en-US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r>
              <a:rPr lang="en-US" altLang="ko-K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3) </a:t>
            </a:r>
            <a:r>
              <a:rPr lang="ko-KR" altLang="en-US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ko-KR" altLang="en-US" sz="1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제어어</a:t>
            </a:r>
            <a:r>
              <a:rPr lang="en-US" altLang="ko-KR" sz="1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(DCL: Data Control Language)</a:t>
            </a:r>
          </a:p>
          <a:p>
            <a:pPr latinLnBrk="0"/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    - </a:t>
            </a:r>
            <a:r>
              <a:rPr lang="ko-KR" altLang="en-US" sz="1400" dirty="0" smtClean="0"/>
              <a:t>데이터 보안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무결성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회복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병행 수행 제어를 명세할 수 있는 명령어들을 포함</a:t>
            </a:r>
            <a:br>
              <a:rPr lang="ko-KR" altLang="en-US" sz="1400" dirty="0" smtClean="0"/>
            </a:br>
            <a:r>
              <a:rPr lang="ko-KR" altLang="en-US" sz="1400" dirty="0" smtClean="0"/>
              <a:t>    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주로 관리목적으로 데이터베이스 관리자가 사용함</a:t>
            </a:r>
            <a:br>
              <a:rPr lang="ko-KR" altLang="en-US" sz="1400" dirty="0" smtClean="0"/>
            </a:br>
            <a:r>
              <a:rPr lang="ko-KR" altLang="en-US" sz="1400" dirty="0" smtClean="0"/>
              <a:t/>
            </a:r>
            <a:br>
              <a:rPr lang="ko-KR" altLang="en-US" sz="1400" dirty="0" smtClean="0"/>
            </a:br>
            <a:endParaRPr lang="en-US" altLang="ko-KR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214290"/>
            <a:ext cx="657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테이블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(table</a:t>
            </a:r>
            <a:r>
              <a:rPr lang="en-US" altLang="ko-KR" dirty="0" smtClean="0"/>
              <a:t>) </a:t>
            </a:r>
            <a:r>
              <a:rPr lang="en-US" altLang="ko-KR" dirty="0" smtClean="0">
                <a:sym typeface="Wingdings" pitchFamily="2" charset="2"/>
              </a:rPr>
              <a:t> 69page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8596" y="714356"/>
            <a:ext cx="83582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데이터베이스에 저장되는 자료 형태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r>
              <a:rPr lang="ko-KR" altLang="en-US" dirty="0"/>
              <a:t>   </a:t>
            </a:r>
            <a:r>
              <a:rPr lang="en-US" altLang="ko-KR" dirty="0" smtClean="0"/>
              <a:t>- </a:t>
            </a:r>
            <a:r>
              <a:rPr lang="ko-KR" altLang="en-US" dirty="0" smtClean="0"/>
              <a:t>기본 </a:t>
            </a:r>
            <a:r>
              <a:rPr lang="ko-KR" altLang="en-US" dirty="0"/>
              <a:t>데이터를 저장하기 위한 구조로 테이블을 사용한다</a:t>
            </a:r>
            <a:r>
              <a:rPr lang="en-US" altLang="ko-KR" dirty="0"/>
              <a:t>.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r>
              <a:rPr lang="ko-KR" altLang="en-US" dirty="0"/>
              <a:t>   </a:t>
            </a:r>
            <a:r>
              <a:rPr lang="en-US" altLang="ko-KR" dirty="0" smtClean="0"/>
              <a:t>- </a:t>
            </a:r>
            <a:r>
              <a:rPr lang="ko-KR" altLang="en-US" dirty="0" smtClean="0"/>
              <a:t>테이블은 </a:t>
            </a:r>
            <a:r>
              <a:rPr lang="ko-KR" altLang="en-US" dirty="0"/>
              <a:t>표처럼 볼 수 있도록 </a:t>
            </a:r>
            <a:r>
              <a:rPr lang="ko-KR" altLang="en-US" dirty="0" err="1"/>
              <a:t>로우</a:t>
            </a:r>
            <a:r>
              <a:rPr lang="en-US" altLang="ko-KR" dirty="0"/>
              <a:t>(ROW)</a:t>
            </a:r>
            <a:r>
              <a:rPr lang="ko-KR" altLang="en-US" dirty="0"/>
              <a:t>와 컬럼</a:t>
            </a:r>
            <a:r>
              <a:rPr lang="en-US" altLang="ko-KR" dirty="0"/>
              <a:t>(COLUMN)</a:t>
            </a:r>
            <a:r>
              <a:rPr lang="ko-KR" altLang="en-US" dirty="0"/>
              <a:t>으로 구성한다</a:t>
            </a:r>
            <a:r>
              <a:rPr lang="en-US" altLang="ko-KR" dirty="0"/>
              <a:t>.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endParaRPr lang="ko-KR" altLang="en-US" dirty="0"/>
          </a:p>
        </p:txBody>
      </p:sp>
      <p:pic>
        <p:nvPicPr>
          <p:cNvPr id="1026" name="Picture 2" descr="https://t1.daumcdn.net/cfile/tistory/14549E425097BF3C1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1928802"/>
            <a:ext cx="8572500" cy="26384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214290"/>
            <a:ext cx="657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3-1.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테이블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(table</a:t>
            </a:r>
            <a:r>
              <a:rPr lang="en-US" altLang="ko-KR" dirty="0" smtClean="0"/>
              <a:t>)  </a:t>
            </a:r>
            <a:r>
              <a:rPr lang="en-US" altLang="ko-KR" dirty="0" smtClean="0">
                <a:sym typeface="Wingdings" pitchFamily="2" charset="2"/>
              </a:rPr>
              <a:t> 70 ~ 71page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9150" y="995363"/>
            <a:ext cx="7505700" cy="486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214290"/>
            <a:ext cx="657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3-2.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테이블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(table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5122" name="Picture 2" descr="https://t1.daumcdn.net/cfile/tistory/150959365097C6622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928670"/>
            <a:ext cx="8572500" cy="5357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214290"/>
            <a:ext cx="657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SQL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언어 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 142page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928670"/>
            <a:ext cx="8786874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214290"/>
            <a:ext cx="657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SQL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언어 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 142page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144" y="857232"/>
            <a:ext cx="8934450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214290"/>
            <a:ext cx="657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SQL(SELECT) 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 145page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8596" y="785794"/>
            <a:ext cx="828680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SELECT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문은 데이터베이스로부터 저장되어 있는 데이터를 검색하는데 사용합니다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. 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- DISTINCT :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중복되는 행을 제거하는 옵션입니다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.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- *        : 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테이블의 모든 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column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을 출력 합니다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. 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- alias    : 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해당 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column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에 대해서 다른 이름을 부여할 때 사용합니다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. 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- </a:t>
            </a:r>
            <a:r>
              <a:rPr lang="en-US" altLang="ko-KR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table_name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: 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질의 대상 </a:t>
            </a:r>
            <a:r>
              <a:rPr lang="ko-KR" altLang="en-US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테이블명</a:t>
            </a:r>
            <a:endParaRPr lang="ko-KR" altLang="en-US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  <a:p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- WHERE    :  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조건을 만족하는 행들만 검색</a:t>
            </a:r>
          </a:p>
          <a:p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- condition :  column, </a:t>
            </a:r>
            <a:r>
              <a:rPr lang="ko-KR" altLang="en-US" dirty="0" err="1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표현식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상수 및 비교 연산자</a:t>
            </a:r>
          </a:p>
          <a:p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- ORDER BY  :  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질의 결과 정렬을 위한 옵션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(ASC: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오름차순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(Default)</a:t>
            </a:r>
          </a:p>
          <a:p>
            <a:r>
              <a:rPr lang="en-US" altLang="ko-KR" dirty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               ,DESC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내림차순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)</a:t>
            </a:r>
          </a:p>
          <a:p>
            <a:endParaRPr lang="en-US" altLang="ko-KR" dirty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  <a:p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☞ SQL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문의 작성 방법</a:t>
            </a:r>
          </a:p>
          <a:p>
            <a:endParaRPr lang="ko-KR" altLang="en-US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  <a:p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 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- SQL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문장은 대소문자를 구별하지 않습니다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.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 - SQL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문장은 한 줄 또는 여러 줄에 입력될 수 있습니다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.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 -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일반적으로 키워드는 대문자로 입력합니다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. 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  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다른 모든 단어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즉 테이블 이름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,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열 이름은 소문자로 입력합니다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.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   (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권장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) 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 - 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가장 최근의 명령어가 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1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개가 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SQL buffer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에 저장됩니다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.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  - SQL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문 마지막 절의 끝에 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";"</a:t>
            </a:r>
            <a:r>
              <a:rPr lang="ko-KR" altLang="en-US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를 기술하여 명령의 끝을 표시 합니다</a:t>
            </a:r>
            <a:r>
              <a:rPr lang="en-US" altLang="ko-KR" dirty="0" smtClean="0">
                <a:solidFill>
                  <a:srgbClr val="000000"/>
                </a:solidFill>
                <a:latin typeface="굴림체" pitchFamily="49" charset="-127"/>
                <a:ea typeface="굴림체" pitchFamily="49" charset="-127"/>
              </a:rPr>
              <a:t>.</a:t>
            </a:r>
          </a:p>
          <a:p>
            <a:endParaRPr lang="en-US" altLang="ko-KR" dirty="0" smtClean="0">
              <a:solidFill>
                <a:srgbClr val="000000"/>
              </a:solidFill>
              <a:latin typeface="굴림체" pitchFamily="49" charset="-127"/>
              <a:ea typeface="굴림체" pitchFamily="49" charset="-127"/>
            </a:endParaRP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214290"/>
            <a:ext cx="6572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SQL(SELECT)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 145page  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참조</a:t>
            </a:r>
            <a:endParaRPr lang="ko-KR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857232"/>
            <a:ext cx="8001056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4500570"/>
            <a:ext cx="7643866" cy="2052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mithsonian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428604"/>
            <a:ext cx="8429684" cy="2409826"/>
          </a:xfrm>
          <a:prstGeom prst="rect">
            <a:avLst/>
          </a:prstGeom>
          <a:noFill/>
        </p:spPr>
      </p:pic>
      <p:pic>
        <p:nvPicPr>
          <p:cNvPr id="5124" name="Picture 4" descr="Smithsonian Imag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3000372"/>
            <a:ext cx="8501122" cy="37147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142852"/>
            <a:ext cx="85725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 smtClean="0">
              <a:sym typeface="Wingdings" pitchFamily="2" charset="2"/>
            </a:endParaRPr>
          </a:p>
          <a:p>
            <a:endParaRPr lang="en-US" altLang="ko-KR" dirty="0">
              <a:sym typeface="Wingdings" pitchFamily="2" charset="2"/>
            </a:endParaRPr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테이블</a:t>
            </a:r>
            <a:r>
              <a:rPr lang="en-US" altLang="ko-KR" dirty="0"/>
              <a:t>(Table) : Table</a:t>
            </a:r>
            <a:r>
              <a:rPr lang="ko-KR" altLang="en-US" dirty="0"/>
              <a:t>은 </a:t>
            </a:r>
            <a:r>
              <a:rPr lang="en-US" altLang="ko-KR" dirty="0"/>
              <a:t>RDBMS</a:t>
            </a:r>
            <a:r>
              <a:rPr lang="ko-KR" altLang="en-US" dirty="0"/>
              <a:t>의 기본적인 저장구조로</a:t>
            </a:r>
            <a:r>
              <a:rPr lang="en-US" altLang="ko-KR" dirty="0"/>
              <a:t>, </a:t>
            </a:r>
            <a:r>
              <a:rPr lang="ko-KR" altLang="en-US" dirty="0"/>
              <a:t>한 개 이상의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Column</a:t>
            </a:r>
            <a:r>
              <a:rPr lang="ko-KR" altLang="en-US" dirty="0"/>
              <a:t>과 </a:t>
            </a:r>
            <a:r>
              <a:rPr lang="en-US" altLang="ko-KR" dirty="0"/>
              <a:t>0</a:t>
            </a:r>
            <a:r>
              <a:rPr lang="ko-KR" altLang="en-US" dirty="0"/>
              <a:t>개 이상의 </a:t>
            </a:r>
            <a:r>
              <a:rPr lang="en-US" altLang="ko-KR" dirty="0"/>
              <a:t>Row</a:t>
            </a:r>
            <a:r>
              <a:rPr lang="ko-KR" altLang="en-US" dirty="0"/>
              <a:t>로 구성된다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행</a:t>
            </a:r>
            <a:r>
              <a:rPr lang="en-US" altLang="ko-KR" dirty="0"/>
              <a:t>(Row) : Row</a:t>
            </a:r>
            <a:r>
              <a:rPr lang="ko-KR" altLang="en-US" dirty="0"/>
              <a:t>는 </a:t>
            </a:r>
            <a:r>
              <a:rPr lang="en-US" altLang="ko-KR" dirty="0"/>
              <a:t>Table</a:t>
            </a:r>
            <a:r>
              <a:rPr lang="ko-KR" altLang="en-US" dirty="0"/>
              <a:t>의 </a:t>
            </a:r>
            <a:r>
              <a:rPr lang="en-US" altLang="ko-KR" dirty="0"/>
              <a:t>Column</a:t>
            </a:r>
            <a:r>
              <a:rPr lang="ko-KR" altLang="en-US" dirty="0"/>
              <a:t>들의 값의 조합</a:t>
            </a:r>
            <a:r>
              <a:rPr lang="en-US" altLang="ko-KR" dirty="0"/>
              <a:t>.(=</a:t>
            </a:r>
            <a:r>
              <a:rPr lang="ko-KR" altLang="en-US" dirty="0"/>
              <a:t>레코드</a:t>
            </a:r>
            <a:r>
              <a:rPr lang="en-US" altLang="ko-KR" dirty="0" smtClean="0"/>
              <a:t>)</a:t>
            </a:r>
          </a:p>
          <a:p>
            <a:endParaRPr lang="en-US" altLang="ko-KR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열</a:t>
            </a:r>
            <a:r>
              <a:rPr lang="en-US" altLang="ko-KR" dirty="0"/>
              <a:t>(Column) : Table</a:t>
            </a:r>
            <a:r>
              <a:rPr lang="ko-KR" altLang="en-US" dirty="0"/>
              <a:t>에서 단일 종류의 데이터를 나타내는 조합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pPr>
              <a:buFont typeface="Wingdings"/>
              <a:buChar char="è"/>
            </a:pPr>
            <a:r>
              <a:rPr lang="ko-KR" altLang="en-US" dirty="0" smtClean="0"/>
              <a:t> 속성</a:t>
            </a:r>
            <a:r>
              <a:rPr lang="en-US" altLang="ko-KR" dirty="0"/>
              <a:t>(attribute </a:t>
            </a:r>
            <a:r>
              <a:rPr lang="ko-KR" altLang="en-US" dirty="0"/>
              <a:t>혹은 </a:t>
            </a:r>
            <a:r>
              <a:rPr lang="en-US" altLang="ko-KR" dirty="0"/>
              <a:t>field) : Row</a:t>
            </a:r>
            <a:r>
              <a:rPr lang="ko-KR" altLang="en-US" dirty="0"/>
              <a:t>와 </a:t>
            </a:r>
            <a:r>
              <a:rPr lang="en-US" altLang="ko-KR" dirty="0"/>
              <a:t>Column</a:t>
            </a:r>
            <a:r>
              <a:rPr lang="ko-KR" altLang="en-US" dirty="0"/>
              <a:t>의 교차점에 </a:t>
            </a:r>
            <a:r>
              <a:rPr lang="en-US" altLang="ko-KR" dirty="0"/>
              <a:t>Field</a:t>
            </a:r>
            <a:r>
              <a:rPr lang="ko-KR" altLang="en-US" dirty="0"/>
              <a:t>가 있으며</a:t>
            </a:r>
            <a:r>
              <a:rPr lang="en-US" altLang="ko-KR" dirty="0"/>
              <a:t>, </a:t>
            </a:r>
            <a:endParaRPr lang="en-US" altLang="ko-KR" dirty="0" smtClean="0"/>
          </a:p>
          <a:p>
            <a:r>
              <a:rPr lang="en-US" altLang="ko-KR" dirty="0" smtClean="0"/>
              <a:t>    Field</a:t>
            </a:r>
            <a:r>
              <a:rPr lang="ko-KR" altLang="en-US" dirty="0"/>
              <a:t>는 데이터를 포함할 수 있으며 데이터가 없을 때 </a:t>
            </a:r>
            <a:r>
              <a:rPr lang="en-US" altLang="ko-KR" dirty="0"/>
              <a:t>NULL</a:t>
            </a:r>
            <a:r>
              <a:rPr lang="ko-KR" altLang="en-US" dirty="0"/>
              <a:t>값을 갖고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있다고 </a:t>
            </a:r>
            <a:r>
              <a:rPr lang="ko-KR" altLang="en-US" dirty="0"/>
              <a:t>말한다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pPr>
              <a:buFont typeface="Wingdings"/>
              <a:buChar char="è"/>
            </a:pPr>
            <a:r>
              <a:rPr lang="ko-KR" altLang="en-US" dirty="0" smtClean="0"/>
              <a:t> 기본 </a:t>
            </a:r>
            <a:r>
              <a:rPr lang="ko-KR" altLang="en-US" dirty="0"/>
              <a:t>키</a:t>
            </a:r>
            <a:r>
              <a:rPr lang="en-US" altLang="ko-KR" dirty="0"/>
              <a:t>(Primary Key) : </a:t>
            </a:r>
            <a:r>
              <a:rPr lang="ko-KR" altLang="en-US" dirty="0"/>
              <a:t>한 </a:t>
            </a:r>
            <a:r>
              <a:rPr lang="en-US" altLang="ko-KR" dirty="0"/>
              <a:t>Table</a:t>
            </a:r>
            <a:r>
              <a:rPr lang="ko-KR" altLang="en-US" dirty="0"/>
              <a:t>의 각각의 </a:t>
            </a:r>
            <a:r>
              <a:rPr lang="en-US" altLang="ko-KR" dirty="0"/>
              <a:t>Row</a:t>
            </a:r>
            <a:r>
              <a:rPr lang="ko-KR" altLang="en-US" dirty="0"/>
              <a:t>를 유일하게 식별해주는 </a:t>
            </a:r>
            <a:endParaRPr lang="en-US" altLang="ko-KR" dirty="0" smtClean="0"/>
          </a:p>
          <a:p>
            <a:r>
              <a:rPr lang="en-US" altLang="ko-KR" dirty="0" smtClean="0"/>
              <a:t>    Column </a:t>
            </a:r>
            <a:r>
              <a:rPr lang="ko-KR" altLang="en-US" dirty="0"/>
              <a:t>또는 </a:t>
            </a:r>
            <a:r>
              <a:rPr lang="en-US" altLang="ko-KR" dirty="0"/>
              <a:t>Column</a:t>
            </a:r>
            <a:r>
              <a:rPr lang="ko-KR" altLang="en-US" dirty="0"/>
              <a:t>의 조합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pPr>
              <a:buFont typeface="Wingdings"/>
              <a:buChar char="è"/>
            </a:pPr>
            <a:r>
              <a:rPr lang="ko-KR" altLang="en-US" dirty="0" smtClean="0"/>
              <a:t>외래 </a:t>
            </a:r>
            <a:r>
              <a:rPr lang="ko-KR" altLang="en-US" dirty="0"/>
              <a:t>키</a:t>
            </a:r>
            <a:r>
              <a:rPr lang="en-US" altLang="ko-KR" dirty="0"/>
              <a:t>(Foreign Key) : </a:t>
            </a:r>
            <a:r>
              <a:rPr lang="ko-KR" altLang="en-US" dirty="0"/>
              <a:t>같은 </a:t>
            </a:r>
            <a:r>
              <a:rPr lang="en-US" altLang="ko-KR" dirty="0"/>
              <a:t>Table </a:t>
            </a:r>
            <a:r>
              <a:rPr lang="ko-KR" altLang="en-US" dirty="0"/>
              <a:t>또는 다른 </a:t>
            </a:r>
            <a:r>
              <a:rPr lang="en-US" altLang="ko-KR" dirty="0"/>
              <a:t>Table</a:t>
            </a:r>
            <a:r>
              <a:rPr lang="ko-KR" altLang="en-US" dirty="0"/>
              <a:t>의 참조하는 단일 </a:t>
            </a:r>
            <a:r>
              <a:rPr lang="en-US" altLang="ko-KR" dirty="0"/>
              <a:t>Column </a:t>
            </a:r>
            <a:endParaRPr lang="en-US" altLang="ko-KR" dirty="0" smtClean="0"/>
          </a:p>
          <a:p>
            <a:r>
              <a:rPr lang="en-US" altLang="ko-KR" dirty="0" smtClean="0"/>
              <a:t>   </a:t>
            </a:r>
            <a:r>
              <a:rPr lang="ko-KR" altLang="en-US" dirty="0" smtClean="0"/>
              <a:t>또는 </a:t>
            </a:r>
            <a:r>
              <a:rPr lang="en-US" altLang="ko-KR" dirty="0"/>
              <a:t>Column</a:t>
            </a:r>
            <a:r>
              <a:rPr lang="ko-KR" altLang="en-US" dirty="0"/>
              <a:t>의 조합으로 구성되며</a:t>
            </a:r>
            <a:r>
              <a:rPr lang="en-US" altLang="ko-KR" dirty="0"/>
              <a:t>, Foreign Key</a:t>
            </a:r>
            <a:r>
              <a:rPr lang="ko-KR" altLang="en-US" dirty="0"/>
              <a:t>를 생성함으로써 </a:t>
            </a:r>
            <a:r>
              <a:rPr lang="ko-KR" altLang="en-US" dirty="0" err="1"/>
              <a:t>관계형</a:t>
            </a:r>
            <a:r>
              <a:rPr lang="ko-KR" altLang="en-US" dirty="0"/>
              <a:t>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smtClean="0"/>
              <a:t>데이터베이스 </a:t>
            </a:r>
            <a:r>
              <a:rPr lang="ko-KR" altLang="en-US" dirty="0"/>
              <a:t>설계규칙을 따를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142852"/>
            <a:ext cx="85725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 smtClean="0">
              <a:sym typeface="Wingdings" pitchFamily="2" charset="2"/>
            </a:endParaRPr>
          </a:p>
          <a:p>
            <a:endParaRPr lang="en-US" altLang="ko-KR" dirty="0">
              <a:sym typeface="Wingdings" pitchFamily="2" charset="2"/>
            </a:endParaRPr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테이블</a:t>
            </a:r>
            <a:r>
              <a:rPr lang="en-US" altLang="ko-KR" dirty="0"/>
              <a:t>(table) : </a:t>
            </a:r>
            <a:r>
              <a:rPr lang="ko-KR" altLang="en-US" dirty="0"/>
              <a:t>행과 열의 조합으로 구성된 기본 </a:t>
            </a:r>
            <a:r>
              <a:rPr lang="ko-KR" altLang="en-US" dirty="0" smtClean="0"/>
              <a:t>저장단위</a:t>
            </a:r>
            <a:endParaRPr lang="en-US" altLang="ko-KR" dirty="0" smtClean="0"/>
          </a:p>
          <a:p>
            <a:endParaRPr lang="ko-KR" altLang="en-US" dirty="0"/>
          </a:p>
          <a:p>
            <a:pPr>
              <a:buFont typeface="Wingdings"/>
              <a:buChar char="è"/>
            </a:pPr>
            <a:r>
              <a:rPr lang="ko-KR" altLang="en-US" dirty="0" smtClean="0"/>
              <a:t> </a:t>
            </a:r>
            <a:r>
              <a:rPr lang="ko-KR" altLang="en-US" dirty="0" err="1" smtClean="0"/>
              <a:t>뷰</a:t>
            </a:r>
            <a:r>
              <a:rPr lang="en-US" altLang="ko-KR" dirty="0"/>
              <a:t>(view) : </a:t>
            </a:r>
            <a:r>
              <a:rPr lang="ko-KR" altLang="en-US" dirty="0"/>
              <a:t>하나 또는 그 이상의 테이블로부터 논리적으로 데이터를 추출한 </a:t>
            </a:r>
            <a:endParaRPr lang="en-US" altLang="ko-KR" dirty="0" smtClean="0"/>
          </a:p>
          <a:p>
            <a:r>
              <a:rPr lang="en-US" altLang="ko-KR" dirty="0" smtClean="0"/>
              <a:t>    </a:t>
            </a:r>
            <a:r>
              <a:rPr lang="ko-KR" altLang="en-US" dirty="0" smtClean="0"/>
              <a:t>부분집합으로 </a:t>
            </a:r>
            <a:r>
              <a:rPr lang="ko-KR" altLang="en-US" dirty="0"/>
              <a:t>논리적이고 가상적인 </a:t>
            </a:r>
            <a:r>
              <a:rPr lang="ko-KR" altLang="en-US" dirty="0" smtClean="0"/>
              <a:t>테이블</a:t>
            </a:r>
            <a:endParaRPr lang="en-US" altLang="ko-KR" dirty="0" smtClean="0"/>
          </a:p>
          <a:p>
            <a:endParaRPr lang="ko-KR" altLang="en-US" dirty="0"/>
          </a:p>
          <a:p>
            <a:pPr>
              <a:buFont typeface="Wingdings"/>
              <a:buChar char="è"/>
            </a:pPr>
            <a:r>
              <a:rPr lang="ko-KR" altLang="en-US" dirty="0" smtClean="0"/>
              <a:t> 시퀀스</a:t>
            </a:r>
            <a:r>
              <a:rPr lang="en-US" altLang="ko-KR" dirty="0"/>
              <a:t>(sequence) : </a:t>
            </a:r>
            <a:r>
              <a:rPr lang="ko-KR" altLang="en-US" dirty="0"/>
              <a:t>자동으로 고유한 </a:t>
            </a:r>
            <a:r>
              <a:rPr lang="ko-KR" altLang="en-US" dirty="0" err="1"/>
              <a:t>숫자값을</a:t>
            </a:r>
            <a:r>
              <a:rPr lang="ko-KR" altLang="en-US" dirty="0"/>
              <a:t> 생성해주며 주로 기본 키 </a:t>
            </a:r>
            <a:endParaRPr lang="en-US" altLang="ko-KR" dirty="0" smtClean="0"/>
          </a:p>
          <a:p>
            <a:r>
              <a:rPr lang="en-US" altLang="ko-KR" dirty="0" smtClean="0"/>
              <a:t>    </a:t>
            </a:r>
            <a:r>
              <a:rPr lang="ko-KR" altLang="en-US" dirty="0" smtClean="0"/>
              <a:t>값을 </a:t>
            </a:r>
            <a:r>
              <a:rPr lang="ko-KR" altLang="en-US" dirty="0"/>
              <a:t>생성하기 위해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인덱스</a:t>
            </a:r>
            <a:r>
              <a:rPr lang="en-US" altLang="ko-KR" dirty="0"/>
              <a:t>(index) : </a:t>
            </a:r>
            <a:r>
              <a:rPr lang="ko-KR" altLang="en-US" dirty="0"/>
              <a:t>쿼리</a:t>
            </a:r>
            <a:r>
              <a:rPr lang="en-US" altLang="ko-KR" dirty="0"/>
              <a:t>(query) </a:t>
            </a:r>
            <a:r>
              <a:rPr lang="ko-KR" altLang="en-US" dirty="0"/>
              <a:t>속도를 </a:t>
            </a:r>
            <a:r>
              <a:rPr lang="ko-KR" altLang="en-US" dirty="0" smtClean="0"/>
              <a:t>향상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smtClean="0"/>
              <a:t>쿼리</a:t>
            </a:r>
            <a:r>
              <a:rPr lang="en-US" altLang="ko-KR" dirty="0"/>
              <a:t>(query) : </a:t>
            </a:r>
            <a:r>
              <a:rPr lang="ko-KR" altLang="en-US" dirty="0"/>
              <a:t>데이터 베이스에 정보를 요청하는 </a:t>
            </a:r>
            <a:r>
              <a:rPr lang="ko-KR" altLang="en-US" dirty="0" smtClean="0"/>
              <a:t>것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en-US" altLang="ko-KR" dirty="0" smtClean="0">
                <a:sym typeface="Wingdings" pitchFamily="2" charset="2"/>
              </a:rPr>
              <a:t> </a:t>
            </a:r>
            <a:r>
              <a:rPr lang="ko-KR" altLang="en-US" dirty="0" err="1" smtClean="0"/>
              <a:t>시노님</a:t>
            </a:r>
            <a:r>
              <a:rPr lang="en-US" altLang="ko-KR" dirty="0"/>
              <a:t>(synonym) : Object</a:t>
            </a:r>
            <a:r>
              <a:rPr lang="ko-KR" altLang="en-US" dirty="0"/>
              <a:t>에 대한 또다른 이름으로 </a:t>
            </a:r>
            <a:r>
              <a:rPr lang="en-US" altLang="ko-KR" dirty="0"/>
              <a:t>ALIAS</a:t>
            </a:r>
            <a:r>
              <a:rPr lang="ko-KR" altLang="en-US" dirty="0" smtClean="0"/>
              <a:t>역할</a:t>
            </a:r>
            <a:endParaRPr lang="en-US" altLang="ko-KR" dirty="0" smtClean="0"/>
          </a:p>
          <a:p>
            <a:endParaRPr lang="ko-KR" altLang="en-US" dirty="0"/>
          </a:p>
          <a:p>
            <a:pPr>
              <a:buFont typeface="Wingdings"/>
              <a:buChar char="è"/>
            </a:pPr>
            <a:r>
              <a:rPr lang="ko-KR" altLang="en-US" dirty="0" smtClean="0"/>
              <a:t>프로그램 </a:t>
            </a:r>
            <a:r>
              <a:rPr lang="ko-KR" altLang="en-US" dirty="0" err="1"/>
              <a:t>유닛</a:t>
            </a:r>
            <a:r>
              <a:rPr lang="en-US" altLang="ko-KR" dirty="0"/>
              <a:t>(program unit) : SQL, PL/SQL</a:t>
            </a:r>
            <a:r>
              <a:rPr lang="ko-KR" altLang="en-US" dirty="0"/>
              <a:t>문으로 작성한 </a:t>
            </a:r>
            <a:r>
              <a:rPr lang="en-US" altLang="ko-KR" dirty="0"/>
              <a:t>Procedure,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Function</a:t>
            </a:r>
            <a:r>
              <a:rPr lang="en-US" altLang="ko-KR" dirty="0"/>
              <a:t>, Trigger, Package -&gt; </a:t>
            </a:r>
            <a:r>
              <a:rPr lang="ko-KR" altLang="en-US" dirty="0"/>
              <a:t>문제가 생길 여지가 생기므로 현재는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r>
              <a:rPr lang="ko-KR" altLang="en-US" dirty="0" err="1" smtClean="0"/>
              <a:t>잘쓰이지</a:t>
            </a:r>
            <a:r>
              <a:rPr lang="ko-KR" altLang="en-US" dirty="0" smtClean="0"/>
              <a:t> </a:t>
            </a:r>
            <a:r>
              <a:rPr lang="ko-KR" altLang="en-US" dirty="0"/>
              <a:t>않는다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071546"/>
            <a:ext cx="8001056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714348" y="285728"/>
            <a:ext cx="6858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ym typeface="Wingdings" pitchFamily="2" charset="2"/>
              </a:rPr>
              <a:t> 148page</a:t>
            </a:r>
            <a:endParaRPr lang="ko-KR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000108"/>
            <a:ext cx="7929618" cy="550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00034" y="285728"/>
            <a:ext cx="778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ym typeface="Wingdings" pitchFamily="2" charset="2"/>
              </a:rPr>
              <a:t> 148page</a:t>
            </a:r>
            <a:endParaRPr lang="ko-KR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Smithsonian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57166"/>
            <a:ext cx="8358246" cy="59293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14422"/>
            <a:ext cx="8839200" cy="5105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85720" y="214290"/>
            <a:ext cx="707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ym typeface="Wingdings" pitchFamily="2" charset="2"/>
              </a:rPr>
              <a:t> 145page</a:t>
            </a:r>
            <a:endParaRPr lang="ko-KR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142984"/>
            <a:ext cx="8786842" cy="5219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57158" y="357166"/>
            <a:ext cx="7215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ym typeface="Wingdings" pitchFamily="2" charset="2"/>
              </a:rPr>
              <a:t> 149page</a:t>
            </a:r>
            <a:endParaRPr lang="ko-KR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000" b="1" dirty="0" smtClean="0"/>
              <a:t>데이터 </a:t>
            </a:r>
            <a:r>
              <a:rPr lang="ko-KR" altLang="en-US" sz="4000" b="1" dirty="0" err="1" smtClean="0"/>
              <a:t>무결성을</a:t>
            </a:r>
            <a:r>
              <a:rPr lang="ko-KR" altLang="en-US" sz="4000" b="1" dirty="0" smtClean="0"/>
              <a:t> 위한 제약조건</a:t>
            </a:r>
            <a:endParaRPr lang="ko-KR" alt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fld id="{C05AFCDE-018C-4608-80BA-DA3956AF0409}" type="slidenum">
              <a:rPr lang="en-US" altLang="ko-KR" sz="1400" smtClean="0">
                <a:latin typeface="Times New Roman" pitchFamily="18" charset="0"/>
              </a:rPr>
              <a:pPr/>
              <a:t>26</a:t>
            </a:fld>
            <a:endParaRPr lang="en-US" altLang="ko-KR" sz="1400" smtClean="0">
              <a:latin typeface="Times New Roman" pitchFamily="18" charset="0"/>
            </a:endParaRPr>
          </a:p>
        </p:txBody>
      </p:sp>
      <p:sp>
        <p:nvSpPr>
          <p:cNvPr id="6147" name="Rectangle 7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6921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ko-KR" altLang="en-US" dirty="0" err="1" smtClean="0"/>
              <a:t>무결성</a:t>
            </a:r>
            <a:r>
              <a:rPr lang="ko-KR" altLang="en-US" dirty="0" smtClean="0"/>
              <a:t> 제약 조건이란</a:t>
            </a:r>
            <a:r>
              <a:rPr lang="en-US" altLang="ko-KR" dirty="0"/>
              <a:t>?</a:t>
            </a:r>
            <a:endParaRPr lang="ko-KR" altLang="en-US" dirty="0" smtClean="0"/>
          </a:p>
        </p:txBody>
      </p:sp>
      <p:sp>
        <p:nvSpPr>
          <p:cNvPr id="6148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dirty="0" smtClean="0"/>
              <a:t>데이터 </a:t>
            </a:r>
            <a:r>
              <a:rPr lang="ko-KR" altLang="en-US" dirty="0" err="1" smtClean="0"/>
              <a:t>무결성</a:t>
            </a:r>
            <a:r>
              <a:rPr lang="ko-KR" altLang="en-US" dirty="0"/>
              <a:t> </a:t>
            </a:r>
            <a:r>
              <a:rPr lang="ko-KR" altLang="en-US" dirty="0" smtClean="0"/>
              <a:t>제약 조건</a:t>
            </a:r>
            <a:endParaRPr lang="en-US" altLang="ko-KR" dirty="0" smtClean="0"/>
          </a:p>
          <a:p>
            <a:pPr marL="0" indent="0" eaLnBrk="1" hangingPunct="1">
              <a:buNone/>
            </a:pPr>
            <a:r>
              <a:rPr lang="en-US" altLang="ko-KR" dirty="0" smtClean="0"/>
              <a:t>   (Data</a:t>
            </a:r>
            <a:r>
              <a:rPr lang="ko-KR" altLang="en-US" dirty="0" smtClean="0"/>
              <a:t> </a:t>
            </a:r>
            <a:r>
              <a:rPr lang="en-US" altLang="ko-KR" dirty="0" smtClean="0"/>
              <a:t>Integrity Constraint Rule) </a:t>
            </a:r>
          </a:p>
          <a:p>
            <a:pPr eaLnBrk="1" hangingPunct="1"/>
            <a:r>
              <a:rPr lang="ko-KR" altLang="en-US" dirty="0" smtClean="0"/>
              <a:t>테이블에 부적절한 자료가 입력되는 것을 방지하기 위해 테이블 생성 시 각 </a:t>
            </a:r>
            <a:r>
              <a:rPr lang="ko-KR" altLang="en-US" dirty="0" err="1" smtClean="0">
                <a:solidFill>
                  <a:srgbClr val="FF0000"/>
                </a:solidFill>
              </a:rPr>
              <a:t>컬럼에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>
                <a:solidFill>
                  <a:srgbClr val="FF0000"/>
                </a:solidFill>
              </a:rPr>
              <a:t>적용하는</a:t>
            </a:r>
            <a:r>
              <a:rPr lang="ko-KR" altLang="en-US" dirty="0" smtClean="0"/>
              <a:t> 여러 가지 </a:t>
            </a:r>
            <a:r>
              <a:rPr lang="ko-KR" altLang="en-US" dirty="0" smtClean="0">
                <a:solidFill>
                  <a:srgbClr val="FF0000"/>
                </a:solidFill>
              </a:rPr>
              <a:t>규칙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14" name="Group 3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862564476"/>
              </p:ext>
            </p:extLst>
          </p:nvPr>
        </p:nvGraphicFramePr>
        <p:xfrm>
          <a:off x="476250" y="1043735"/>
          <a:ext cx="8229600" cy="2868324"/>
        </p:xfrm>
        <a:graphic>
          <a:graphicData uri="http://schemas.openxmlformats.org/drawingml/2006/table">
            <a:tbl>
              <a:tblPr/>
              <a:tblGrid>
                <a:gridCol w="2520575"/>
                <a:gridCol w="2965825"/>
                <a:gridCol w="2743200"/>
              </a:tblGrid>
              <a:tr h="738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공식적인 용어</a:t>
                      </a:r>
                    </a:p>
                  </a:txBody>
                  <a:tcPr marL="144000" marR="144000" marT="144000" marB="144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자주 사용되는 용어</a:t>
                      </a:r>
                    </a:p>
                  </a:txBody>
                  <a:tcPr marL="144000" marR="144000" marT="144000" marB="14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파일 시스템 용어</a:t>
                      </a:r>
                    </a:p>
                  </a:txBody>
                  <a:tcPr marL="144000" marR="144000" marT="144000" marB="14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릴레이션</a:t>
                      </a:r>
                    </a:p>
                  </a:txBody>
                  <a:tcPr marL="144000" marR="144000" marT="144000" marB="144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테이블</a:t>
                      </a:r>
                    </a:p>
                  </a:txBody>
                  <a:tcPr marL="144000" marR="144000" marT="144000" marB="14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파일</a:t>
                      </a:r>
                    </a:p>
                  </a:txBody>
                  <a:tcPr marL="144000" marR="144000" marT="144000" marB="14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8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튜플</a:t>
                      </a:r>
                      <a:endParaRPr kumimoji="1" lang="ko-KR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HY울릉도M" pitchFamily="18" charset="-127"/>
                      </a:endParaRPr>
                    </a:p>
                  </a:txBody>
                  <a:tcPr marL="144000" marR="144000" marT="144000" marB="144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행</a:t>
                      </a:r>
                      <a:r>
                        <a:rPr kumimoji="1" lang="en-US" altLang="ko-K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/</a:t>
                      </a: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레코드</a:t>
                      </a:r>
                    </a:p>
                  </a:txBody>
                  <a:tcPr marL="144000" marR="144000" marT="144000" marB="14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레코드</a:t>
                      </a:r>
                    </a:p>
                  </a:txBody>
                  <a:tcPr marL="144000" marR="144000" marT="144000" marB="14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애트리뷰트</a:t>
                      </a:r>
                      <a:endParaRPr kumimoji="1" lang="ko-KR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HY울릉도M" pitchFamily="18" charset="-127"/>
                      </a:endParaRPr>
                    </a:p>
                  </a:txBody>
                  <a:tcPr marL="144000" marR="144000" marT="144000" marB="144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열</a:t>
                      </a:r>
                    </a:p>
                  </a:txBody>
                  <a:tcPr marL="144000" marR="144000" marT="144000" marB="14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필드</a:t>
                      </a:r>
                    </a:p>
                  </a:txBody>
                  <a:tcPr marL="144000" marR="144000" marT="144000" marB="14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386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en-US" altLang="ko-KR" smtClean="0"/>
              <a:t>2.1 </a:t>
            </a:r>
            <a:r>
              <a:rPr lang="ko-KR" altLang="en-US" smtClean="0"/>
              <a:t>관계 데이터 모델의 개념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29852500"/>
              </p:ext>
            </p:extLst>
          </p:nvPr>
        </p:nvGraphicFramePr>
        <p:xfrm>
          <a:off x="439570" y="4284095"/>
          <a:ext cx="8229600" cy="196128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26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2400" b="1" dirty="0" smtClean="0"/>
                        <a:t>Domain</a:t>
                      </a:r>
                      <a:endParaRPr kumimoji="1" lang="ko-KR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HY울릉도M" pitchFamily="18" charset="-127"/>
                      </a:endParaRPr>
                    </a:p>
                  </a:txBody>
                  <a:tcPr marL="144000" marR="144000" marT="144000" marB="144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값들의 집합</a:t>
                      </a:r>
                    </a:p>
                  </a:txBody>
                  <a:tcPr marL="144000" marR="144000" marT="144000" marB="14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2400" b="1" dirty="0" smtClean="0"/>
                        <a:t>Degree</a:t>
                      </a:r>
                      <a:endParaRPr kumimoji="1" lang="ko-KR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HY울릉도M" pitchFamily="18" charset="-127"/>
                      </a:endParaRPr>
                    </a:p>
                  </a:txBody>
                  <a:tcPr marL="144000" marR="144000" marT="144000" marB="144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열의 수</a:t>
                      </a:r>
                    </a:p>
                  </a:txBody>
                  <a:tcPr marL="144000" marR="144000" marT="144000" marB="14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2400" b="1" dirty="0" smtClean="0"/>
                        <a:t>Cardinality</a:t>
                      </a:r>
                      <a:endParaRPr kumimoji="1" lang="ko-KR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HY울릉도M" pitchFamily="18" charset="-127"/>
                      </a:endParaRPr>
                    </a:p>
                  </a:txBody>
                  <a:tcPr marL="144000" marR="144000" marT="144000" marB="144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행의 수</a:t>
                      </a:r>
                    </a:p>
                  </a:txBody>
                  <a:tcPr marL="144000" marR="144000" marT="144000" marB="14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관계 데이터 모델의 개념</a:t>
            </a:r>
          </a:p>
        </p:txBody>
      </p:sp>
      <p:graphicFrame>
        <p:nvGraphicFramePr>
          <p:cNvPr id="6" name="Group 5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710446925"/>
              </p:ext>
            </p:extLst>
          </p:nvPr>
        </p:nvGraphicFramePr>
        <p:xfrm>
          <a:off x="1750038" y="2841008"/>
          <a:ext cx="6735762" cy="2744788"/>
        </p:xfrm>
        <a:graphic>
          <a:graphicData uri="http://schemas.openxmlformats.org/drawingml/2006/table">
            <a:tbl>
              <a:tblPr/>
              <a:tblGrid>
                <a:gridCol w="1347787"/>
                <a:gridCol w="1346200"/>
                <a:gridCol w="1347788"/>
                <a:gridCol w="1346200"/>
                <a:gridCol w="1347787"/>
              </a:tblGrid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EMPNO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EMPNAME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TITLE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DEPTNO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SALARY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2106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김창섭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대리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2000000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3426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박영권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과장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2500000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3011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이수민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부장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3000000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조민희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대리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2000000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 Box 50"/>
          <p:cNvSpPr txBox="1">
            <a:spLocks noChangeArrowheads="1"/>
          </p:cNvSpPr>
          <p:nvPr/>
        </p:nvSpPr>
        <p:spPr bwMode="auto">
          <a:xfrm>
            <a:off x="497958" y="2028533"/>
            <a:ext cx="16546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pPr algn="l" eaLnBrk="1" latinLnBrk="1" hangingPunct="1"/>
            <a:r>
              <a:rPr lang="ko-KR" altLang="en-US" sz="2400" b="1" dirty="0" err="1" smtClean="0">
                <a:latin typeface="MS PGothic" pitchFamily="34" charset="-128"/>
              </a:rPr>
              <a:t>기본키</a:t>
            </a:r>
            <a:r>
              <a:rPr lang="en-US" altLang="ko-KR" sz="2400" b="1" dirty="0" smtClean="0">
                <a:latin typeface="MS PGothic" pitchFamily="34" charset="-128"/>
              </a:rPr>
              <a:t>(PK)</a:t>
            </a:r>
            <a:endParaRPr lang="ko-KR" altLang="en-US" sz="2400" b="1" dirty="0">
              <a:latin typeface="MS PGothic" pitchFamily="34" charset="-128"/>
            </a:endParaRPr>
          </a:p>
        </p:txBody>
      </p:sp>
      <p:sp>
        <p:nvSpPr>
          <p:cNvPr id="9" name="Text Box 51"/>
          <p:cNvSpPr txBox="1">
            <a:spLocks noChangeArrowheads="1"/>
          </p:cNvSpPr>
          <p:nvPr/>
        </p:nvSpPr>
        <p:spPr bwMode="auto">
          <a:xfrm>
            <a:off x="4617005" y="1549080"/>
            <a:ext cx="169148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pPr algn="l" eaLnBrk="1" latinLnBrk="1" hangingPunct="1"/>
            <a:r>
              <a:rPr lang="ko-KR" altLang="en-US" sz="2400" b="1" dirty="0" smtClean="0">
                <a:latin typeface="MS PGothic" pitchFamily="34" charset="-128"/>
              </a:rPr>
              <a:t>열</a:t>
            </a:r>
            <a:endParaRPr lang="en-US" altLang="ko-KR" sz="2400" b="1" dirty="0" smtClean="0">
              <a:latin typeface="MS PGothic" pitchFamily="34" charset="-128"/>
            </a:endParaRPr>
          </a:p>
          <a:p>
            <a:pPr algn="l" eaLnBrk="1" latinLnBrk="1" hangingPunct="1"/>
            <a:r>
              <a:rPr lang="ko-KR" altLang="en-US" sz="2400" b="1" dirty="0" err="1" smtClean="0">
                <a:latin typeface="MS PGothic" pitchFamily="34" charset="-128"/>
              </a:rPr>
              <a:t>컬럼</a:t>
            </a:r>
            <a:endParaRPr lang="en-US" altLang="ko-KR" sz="2400" b="1" dirty="0" smtClean="0">
              <a:latin typeface="MS PGothic" pitchFamily="34" charset="-128"/>
            </a:endParaRPr>
          </a:p>
          <a:p>
            <a:pPr algn="l" eaLnBrk="1" latinLnBrk="1" hangingPunct="1"/>
            <a:r>
              <a:rPr lang="ko-KR" altLang="en-US" sz="2400" b="1" dirty="0" err="1" smtClean="0">
                <a:latin typeface="MS PGothic" pitchFamily="34" charset="-128"/>
              </a:rPr>
              <a:t>애트리뷰트</a:t>
            </a:r>
            <a:endParaRPr lang="en-US" altLang="ko-KR" sz="2400" b="1" dirty="0">
              <a:latin typeface="MS PGothic" pitchFamily="34" charset="-128"/>
            </a:endParaRPr>
          </a:p>
        </p:txBody>
      </p:sp>
      <p:sp>
        <p:nvSpPr>
          <p:cNvPr id="10" name="Text Box 52"/>
          <p:cNvSpPr txBox="1">
            <a:spLocks noChangeArrowheads="1"/>
          </p:cNvSpPr>
          <p:nvPr/>
        </p:nvSpPr>
        <p:spPr bwMode="auto">
          <a:xfrm>
            <a:off x="237150" y="4547570"/>
            <a:ext cx="108876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pPr algn="l" eaLnBrk="1" latinLnBrk="1" hangingPunct="1"/>
            <a:r>
              <a:rPr lang="ko-KR" altLang="en-US" sz="2400" b="1" dirty="0" smtClean="0">
                <a:latin typeface="MS PGothic" pitchFamily="34" charset="-128"/>
              </a:rPr>
              <a:t>행</a:t>
            </a:r>
            <a:endParaRPr lang="en-US" altLang="ko-KR" sz="2400" b="1" dirty="0" smtClean="0">
              <a:latin typeface="MS PGothic" pitchFamily="34" charset="-128"/>
            </a:endParaRPr>
          </a:p>
          <a:p>
            <a:pPr algn="l" eaLnBrk="1" latinLnBrk="1" hangingPunct="1"/>
            <a:r>
              <a:rPr lang="ko-KR" altLang="en-US" sz="2400" b="1" dirty="0" smtClean="0">
                <a:latin typeface="MS PGothic" pitchFamily="34" charset="-128"/>
              </a:rPr>
              <a:t>레코드</a:t>
            </a:r>
            <a:endParaRPr lang="en-US" altLang="ko-KR" sz="2400" b="1" dirty="0">
              <a:latin typeface="MS PGothic" pitchFamily="34" charset="-128"/>
            </a:endParaRPr>
          </a:p>
          <a:p>
            <a:pPr algn="l" eaLnBrk="1" latinLnBrk="1" hangingPunct="1"/>
            <a:r>
              <a:rPr lang="ko-KR" altLang="en-US" sz="2400" b="1" dirty="0" err="1" smtClean="0">
                <a:latin typeface="MS PGothic" pitchFamily="34" charset="-128"/>
              </a:rPr>
              <a:t>튜플</a:t>
            </a:r>
            <a:endParaRPr lang="en-US" altLang="ko-KR" sz="2400" b="1" dirty="0">
              <a:latin typeface="MS PGothic" pitchFamily="34" charset="-128"/>
            </a:endParaRPr>
          </a:p>
        </p:txBody>
      </p:sp>
      <p:sp>
        <p:nvSpPr>
          <p:cNvPr id="11" name="Text Box 53"/>
          <p:cNvSpPr txBox="1">
            <a:spLocks noChangeArrowheads="1"/>
          </p:cNvSpPr>
          <p:nvPr/>
        </p:nvSpPr>
        <p:spPr bwMode="auto">
          <a:xfrm>
            <a:off x="7041175" y="5982670"/>
            <a:ext cx="19928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pPr algn="l" eaLnBrk="1" latinLnBrk="1" hangingPunct="1"/>
            <a:r>
              <a:rPr lang="ko-KR" altLang="en-US" sz="2400" b="1" dirty="0" err="1" smtClean="0">
                <a:latin typeface="MS PGothic" pitchFamily="34" charset="-128"/>
              </a:rPr>
              <a:t>애트</a:t>
            </a:r>
            <a:r>
              <a:rPr lang="ko-KR" altLang="en-US" sz="2400" b="1" dirty="0" err="1">
                <a:latin typeface="MS PGothic" pitchFamily="34" charset="-128"/>
              </a:rPr>
              <a:t>리</a:t>
            </a:r>
            <a:r>
              <a:rPr lang="ko-KR" altLang="en-US" sz="2400" b="1" dirty="0" err="1" smtClean="0">
                <a:latin typeface="MS PGothic" pitchFamily="34" charset="-128"/>
              </a:rPr>
              <a:t>뷰트값</a:t>
            </a:r>
            <a:endParaRPr lang="ko-KR" altLang="en-US" sz="2400" b="1" dirty="0">
              <a:latin typeface="MS PGothic" pitchFamily="34" charset="-128"/>
            </a:endParaRPr>
          </a:p>
        </p:txBody>
      </p:sp>
      <p:sp>
        <p:nvSpPr>
          <p:cNvPr id="13" name="Oval 56"/>
          <p:cNvSpPr>
            <a:spLocks noChangeArrowheads="1"/>
          </p:cNvSpPr>
          <p:nvPr/>
        </p:nvSpPr>
        <p:spPr bwMode="auto">
          <a:xfrm>
            <a:off x="7261838" y="5136533"/>
            <a:ext cx="1090612" cy="373062"/>
          </a:xfrm>
          <a:prstGeom prst="ellipse">
            <a:avLst/>
          </a:prstGeom>
          <a:noFill/>
          <a:ln w="22225" algn="ctr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144000" tIns="144000" rIns="144000" bIns="144000" anchor="ctr"/>
          <a:lstStyle/>
          <a:p>
            <a:endParaRPr lang="ko-KR" altLang="en-US" sz="2400" b="1"/>
          </a:p>
        </p:txBody>
      </p:sp>
      <p:sp>
        <p:nvSpPr>
          <p:cNvPr id="14" name="Oval 58"/>
          <p:cNvSpPr>
            <a:spLocks noChangeArrowheads="1"/>
          </p:cNvSpPr>
          <p:nvPr/>
        </p:nvSpPr>
        <p:spPr bwMode="auto">
          <a:xfrm>
            <a:off x="1972288" y="3464895"/>
            <a:ext cx="855662" cy="2055813"/>
          </a:xfrm>
          <a:prstGeom prst="ellipse">
            <a:avLst/>
          </a:prstGeom>
          <a:noFill/>
          <a:ln w="22225" algn="ctr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144000" tIns="144000" rIns="144000" bIns="144000" anchor="ctr"/>
          <a:lstStyle/>
          <a:p>
            <a:endParaRPr lang="ko-KR" altLang="en-US" sz="2400" b="1"/>
          </a:p>
        </p:txBody>
      </p:sp>
      <p:sp>
        <p:nvSpPr>
          <p:cNvPr id="15" name="Oval 59"/>
          <p:cNvSpPr>
            <a:spLocks noChangeArrowheads="1"/>
          </p:cNvSpPr>
          <p:nvPr/>
        </p:nvSpPr>
        <p:spPr bwMode="auto">
          <a:xfrm>
            <a:off x="1923075" y="2864820"/>
            <a:ext cx="6548438" cy="501650"/>
          </a:xfrm>
          <a:prstGeom prst="ellipse">
            <a:avLst/>
          </a:prstGeom>
          <a:noFill/>
          <a:ln w="22225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144000" tIns="144000" rIns="144000" bIns="144000" anchor="ctr"/>
          <a:lstStyle/>
          <a:p>
            <a:endParaRPr lang="ko-KR" altLang="en-US" sz="2400" b="1"/>
          </a:p>
        </p:txBody>
      </p:sp>
      <p:sp>
        <p:nvSpPr>
          <p:cNvPr id="16" name="Oval 60"/>
          <p:cNvSpPr>
            <a:spLocks noChangeArrowheads="1"/>
          </p:cNvSpPr>
          <p:nvPr/>
        </p:nvSpPr>
        <p:spPr bwMode="auto">
          <a:xfrm>
            <a:off x="1843700" y="2894983"/>
            <a:ext cx="1062038" cy="422275"/>
          </a:xfrm>
          <a:prstGeom prst="ellipse">
            <a:avLst/>
          </a:prstGeom>
          <a:noFill/>
          <a:ln w="22225" algn="ctr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144000" tIns="144000" rIns="144000" bIns="144000" anchor="ctr"/>
          <a:lstStyle/>
          <a:p>
            <a:endParaRPr lang="ko-KR" altLang="en-US" sz="2400" b="1"/>
          </a:p>
        </p:txBody>
      </p:sp>
      <p:cxnSp>
        <p:nvCxnSpPr>
          <p:cNvPr id="17" name="AutoShape 61"/>
          <p:cNvCxnSpPr>
            <a:cxnSpLocks noChangeShapeType="1"/>
            <a:stCxn id="10" idx="3"/>
            <a:endCxn id="14" idx="2"/>
          </p:cNvCxnSpPr>
          <p:nvPr/>
        </p:nvCxnSpPr>
        <p:spPr bwMode="auto">
          <a:xfrm flipV="1">
            <a:off x="1325910" y="4492802"/>
            <a:ext cx="646378" cy="654933"/>
          </a:xfrm>
          <a:prstGeom prst="straightConnector1">
            <a:avLst/>
          </a:prstGeom>
          <a:noFill/>
          <a:ln w="222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" name="AutoShape 62"/>
          <p:cNvCxnSpPr>
            <a:cxnSpLocks noChangeShapeType="1"/>
            <a:stCxn id="11" idx="0"/>
            <a:endCxn id="13" idx="4"/>
          </p:cNvCxnSpPr>
          <p:nvPr/>
        </p:nvCxnSpPr>
        <p:spPr bwMode="auto">
          <a:xfrm flipH="1" flipV="1">
            <a:off x="7807144" y="5509595"/>
            <a:ext cx="230458" cy="473075"/>
          </a:xfrm>
          <a:prstGeom prst="straightConnector1">
            <a:avLst/>
          </a:prstGeom>
          <a:noFill/>
          <a:ln w="222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9" name="AutoShape 63"/>
          <p:cNvCxnSpPr>
            <a:cxnSpLocks noChangeShapeType="1"/>
            <a:stCxn id="9" idx="2"/>
            <a:endCxn id="15" idx="0"/>
          </p:cNvCxnSpPr>
          <p:nvPr/>
        </p:nvCxnSpPr>
        <p:spPr bwMode="auto">
          <a:xfrm flipH="1">
            <a:off x="5197294" y="2749409"/>
            <a:ext cx="265456" cy="115411"/>
          </a:xfrm>
          <a:prstGeom prst="straightConnector1">
            <a:avLst/>
          </a:prstGeom>
          <a:noFill/>
          <a:ln w="222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0" name="AutoShape 64"/>
          <p:cNvCxnSpPr>
            <a:cxnSpLocks noChangeShapeType="1"/>
            <a:stCxn id="8" idx="2"/>
            <a:endCxn id="16" idx="0"/>
          </p:cNvCxnSpPr>
          <p:nvPr/>
        </p:nvCxnSpPr>
        <p:spPr bwMode="auto">
          <a:xfrm>
            <a:off x="1325268" y="2490198"/>
            <a:ext cx="1049451" cy="404785"/>
          </a:xfrm>
          <a:prstGeom prst="straightConnector1">
            <a:avLst/>
          </a:prstGeom>
          <a:noFill/>
          <a:ln w="222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6" name="Text Box 52"/>
          <p:cNvSpPr txBox="1">
            <a:spLocks noChangeArrowheads="1"/>
          </p:cNvSpPr>
          <p:nvPr/>
        </p:nvSpPr>
        <p:spPr bwMode="auto">
          <a:xfrm>
            <a:off x="400413" y="908720"/>
            <a:ext cx="268054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pPr algn="l" eaLnBrk="1" latinLnBrk="1" hangingPunct="1"/>
            <a:r>
              <a:rPr lang="en-US" altLang="ko-KR" sz="3200" b="1" dirty="0" smtClean="0">
                <a:latin typeface="+mn-ea"/>
                <a:ea typeface="+mn-ea"/>
              </a:rPr>
              <a:t>EMP : </a:t>
            </a:r>
            <a:r>
              <a:rPr lang="ko-KR" altLang="en-US" sz="3200" b="1" dirty="0" smtClean="0">
                <a:latin typeface="+mn-ea"/>
                <a:ea typeface="+mn-ea"/>
              </a:rPr>
              <a:t>테이블</a:t>
            </a:r>
            <a:endParaRPr lang="en-US" altLang="ko-KR" sz="3200" b="1" dirty="0">
              <a:latin typeface="+mn-ea"/>
              <a:ea typeface="+mn-ea"/>
            </a:endParaRPr>
          </a:p>
        </p:txBody>
      </p:sp>
      <p:sp>
        <p:nvSpPr>
          <p:cNvPr id="28" name="Text Box 50"/>
          <p:cNvSpPr txBox="1">
            <a:spLocks noChangeArrowheads="1"/>
          </p:cNvSpPr>
          <p:nvPr/>
        </p:nvSpPr>
        <p:spPr bwMode="auto">
          <a:xfrm>
            <a:off x="6332468" y="1493495"/>
            <a:ext cx="16353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pPr algn="l" eaLnBrk="1" latinLnBrk="1" hangingPunct="1"/>
            <a:r>
              <a:rPr lang="ko-KR" altLang="en-US" sz="2400" b="1" dirty="0" err="1" smtClean="0">
                <a:latin typeface="MS PGothic" pitchFamily="34" charset="-128"/>
              </a:rPr>
              <a:t>외래키</a:t>
            </a:r>
            <a:r>
              <a:rPr lang="en-US" altLang="ko-KR" sz="2400" b="1" dirty="0" smtClean="0">
                <a:latin typeface="MS PGothic" pitchFamily="34" charset="-128"/>
              </a:rPr>
              <a:t>(FK)</a:t>
            </a:r>
            <a:endParaRPr lang="ko-KR" altLang="en-US" sz="2400" b="1" dirty="0">
              <a:latin typeface="MS PGothic" pitchFamily="34" charset="-128"/>
            </a:endParaRPr>
          </a:p>
        </p:txBody>
      </p:sp>
      <p:sp>
        <p:nvSpPr>
          <p:cNvPr id="29" name="Oval 60"/>
          <p:cNvSpPr>
            <a:spLocks noChangeArrowheads="1"/>
          </p:cNvSpPr>
          <p:nvPr/>
        </p:nvSpPr>
        <p:spPr bwMode="auto">
          <a:xfrm>
            <a:off x="5877145" y="2841008"/>
            <a:ext cx="1062038" cy="422275"/>
          </a:xfrm>
          <a:prstGeom prst="ellipse">
            <a:avLst/>
          </a:prstGeom>
          <a:noFill/>
          <a:ln w="22225" algn="ctr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144000" tIns="144000" rIns="144000" bIns="144000" anchor="ctr"/>
          <a:lstStyle/>
          <a:p>
            <a:endParaRPr lang="ko-KR" altLang="en-US" sz="2400" b="1"/>
          </a:p>
        </p:txBody>
      </p:sp>
      <p:cxnSp>
        <p:nvCxnSpPr>
          <p:cNvPr id="30" name="AutoShape 64"/>
          <p:cNvCxnSpPr>
            <a:cxnSpLocks noChangeShapeType="1"/>
            <a:stCxn id="28" idx="2"/>
            <a:endCxn id="29" idx="0"/>
          </p:cNvCxnSpPr>
          <p:nvPr/>
        </p:nvCxnSpPr>
        <p:spPr bwMode="auto">
          <a:xfrm flipH="1">
            <a:off x="6408164" y="1955160"/>
            <a:ext cx="741996" cy="885848"/>
          </a:xfrm>
          <a:prstGeom prst="straightConnector1">
            <a:avLst/>
          </a:prstGeom>
          <a:noFill/>
          <a:ln w="222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fld id="{E36CDEC7-628D-4B5E-AA3C-C6BD11BFAC5A}" type="slidenum">
              <a:rPr lang="en-US" altLang="ko-KR" sz="1400" smtClean="0">
                <a:latin typeface="Times New Roman" pitchFamily="18" charset="0"/>
              </a:rPr>
              <a:pPr/>
              <a:t>29</a:t>
            </a:fld>
            <a:endParaRPr lang="en-US" altLang="ko-KR" sz="1400" smtClean="0">
              <a:latin typeface="Times New Roman" pitchFamily="18" charset="0"/>
            </a:endParaRPr>
          </a:p>
        </p:txBody>
      </p:sp>
      <p:sp>
        <p:nvSpPr>
          <p:cNvPr id="12291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 dirty="0" smtClean="0"/>
              <a:t> </a:t>
            </a:r>
            <a:r>
              <a:rPr lang="ko-KR" altLang="en-US" dirty="0" smtClean="0"/>
              <a:t>도메인</a:t>
            </a:r>
            <a:r>
              <a:rPr lang="en-US" altLang="ko-KR" dirty="0" smtClean="0"/>
              <a:t>(domain)</a:t>
            </a:r>
          </a:p>
          <a:p>
            <a:pPr lvl="1" eaLnBrk="1" hangingPunct="1"/>
            <a:r>
              <a:rPr lang="ko-KR" altLang="en-US" dirty="0" smtClean="0">
                <a:solidFill>
                  <a:srgbClr val="FF0000"/>
                </a:solidFill>
              </a:rPr>
              <a:t>한 </a:t>
            </a:r>
            <a:r>
              <a:rPr lang="ko-KR" altLang="en-US" dirty="0" err="1" smtClean="0">
                <a:solidFill>
                  <a:srgbClr val="FF0000"/>
                </a:solidFill>
              </a:rPr>
              <a:t>애트리뷰트에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 smtClean="0"/>
              <a:t>나타날 수 있는 </a:t>
            </a:r>
            <a:r>
              <a:rPr lang="ko-KR" altLang="en-US" dirty="0" smtClean="0">
                <a:solidFill>
                  <a:srgbClr val="FF0000"/>
                </a:solidFill>
              </a:rPr>
              <a:t>값들의 집합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ko-KR" altLang="en-US" dirty="0" smtClean="0"/>
              <a:t>예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ename</a:t>
            </a:r>
            <a:r>
              <a:rPr lang="ko-KR" altLang="en-US" dirty="0" smtClean="0"/>
              <a:t>에 나타날 수 있는 값들의 집합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  : </a:t>
            </a:r>
            <a:r>
              <a:rPr lang="ko-KR" altLang="en-US" dirty="0" smtClean="0"/>
              <a:t>아무개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홍길동</a:t>
            </a:r>
          </a:p>
          <a:p>
            <a:pPr lvl="1" eaLnBrk="1" hangingPunct="1"/>
            <a:r>
              <a:rPr lang="ko-KR" altLang="en-US" dirty="0" smtClean="0"/>
              <a:t>도메인 정의</a:t>
            </a:r>
          </a:p>
          <a:p>
            <a:pPr lvl="2" eaLnBrk="1" hangingPunct="1"/>
            <a:r>
              <a:rPr lang="en-US" altLang="ko-KR" sz="1800" dirty="0" smtClean="0">
                <a:latin typeface="Verdana" pitchFamily="34" charset="0"/>
                <a:ea typeface="MS PGothic" pitchFamily="34" charset="-128"/>
              </a:rPr>
              <a:t>CREAT  DOMAIN  </a:t>
            </a:r>
            <a:r>
              <a:rPr lang="en-US" altLang="ko-KR" sz="1800" dirty="0" smtClean="0">
                <a:latin typeface="Verdana" pitchFamily="34" charset="0"/>
                <a:ea typeface="MS Gothic" pitchFamily="49" charset="-128"/>
              </a:rPr>
              <a:t>EMPNAME</a:t>
            </a:r>
            <a:r>
              <a:rPr lang="en-US" altLang="ko-KR" sz="1800" dirty="0" smtClean="0">
                <a:latin typeface="Verdana" pitchFamily="34" charset="0"/>
                <a:ea typeface="MS PGothic" pitchFamily="34" charset="-128"/>
              </a:rPr>
              <a:t>  CHAR(10)</a:t>
            </a:r>
          </a:p>
          <a:p>
            <a:pPr lvl="2" eaLnBrk="1" hangingPunct="1"/>
            <a:r>
              <a:rPr lang="en-US" altLang="ko-KR" sz="1800" dirty="0" smtClean="0">
                <a:latin typeface="Verdana" pitchFamily="34" charset="0"/>
                <a:ea typeface="MS PGothic" pitchFamily="34" charset="-128"/>
              </a:rPr>
              <a:t>CREAT  DOMAIN  EMPNO   INTEGER</a:t>
            </a:r>
          </a:p>
          <a:p>
            <a:pPr lvl="2" eaLnBrk="1" hangingPunct="1"/>
            <a:r>
              <a:rPr lang="en-US" altLang="ko-KR" sz="1800" dirty="0" smtClean="0">
                <a:latin typeface="Verdana" pitchFamily="34" charset="0"/>
                <a:ea typeface="MS PGothic" pitchFamily="34" charset="-128"/>
              </a:rPr>
              <a:t>CREAT  DOMAIN  DNO     INTEGER</a:t>
            </a:r>
          </a:p>
        </p:txBody>
      </p:sp>
      <p:sp>
        <p:nvSpPr>
          <p:cNvPr id="12292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관계 데이터 모델의 개념</a:t>
            </a:r>
          </a:p>
        </p:txBody>
      </p:sp>
    </p:spTree>
    <p:extLst>
      <p:ext uri="{BB962C8B-B14F-4D97-AF65-F5344CB8AC3E}">
        <p14:creationId xmlns:p14="http://schemas.microsoft.com/office/powerpoint/2010/main" xmlns="" val="299635855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71500" y="909761"/>
            <a:ext cx="8801515" cy="536145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dirty="0" smtClean="0"/>
              <a:t> </a:t>
            </a:r>
            <a:r>
              <a:rPr lang="ko-KR" altLang="en-US" dirty="0" smtClean="0"/>
              <a:t>차수</a:t>
            </a:r>
            <a:r>
              <a:rPr lang="en-US" altLang="ko-KR" dirty="0" smtClean="0"/>
              <a:t>(degree)</a:t>
            </a:r>
          </a:p>
          <a:p>
            <a:pPr marL="742950" lvl="2" indent="-342900"/>
            <a:r>
              <a:rPr lang="ko-KR" altLang="en-US" sz="2800" b="1" dirty="0"/>
              <a:t>한 </a:t>
            </a:r>
            <a:r>
              <a:rPr lang="ko-KR" altLang="en-US" sz="2800" b="1" dirty="0" err="1" smtClean="0"/>
              <a:t>릴레이션</a:t>
            </a:r>
            <a:r>
              <a:rPr lang="en-US" altLang="ko-KR" sz="2800" b="1" dirty="0" smtClean="0"/>
              <a:t>(</a:t>
            </a:r>
            <a:r>
              <a:rPr lang="ko-KR" altLang="en-US" sz="2800" b="1" dirty="0" smtClean="0"/>
              <a:t>테이블</a:t>
            </a:r>
            <a:r>
              <a:rPr lang="en-US" altLang="ko-KR" sz="2800" b="1" dirty="0" smtClean="0"/>
              <a:t>)</a:t>
            </a:r>
            <a:r>
              <a:rPr lang="ko-KR" altLang="en-US" sz="2800" b="1" dirty="0" smtClean="0"/>
              <a:t>에 </a:t>
            </a:r>
            <a:r>
              <a:rPr lang="ko-KR" altLang="en-US" sz="2800" b="1" dirty="0"/>
              <a:t>들어 있는 </a:t>
            </a:r>
            <a:r>
              <a:rPr lang="ko-KR" altLang="en-US" sz="2800" b="1" dirty="0" err="1" smtClean="0"/>
              <a:t>애트리뷰트</a:t>
            </a:r>
            <a:r>
              <a:rPr lang="en-US" altLang="ko-KR" sz="2800" b="1" dirty="0" smtClean="0"/>
              <a:t>(</a:t>
            </a:r>
            <a:r>
              <a:rPr lang="ko-KR" altLang="en-US" sz="2800" b="1" dirty="0" smtClean="0"/>
              <a:t>열</a:t>
            </a:r>
            <a:r>
              <a:rPr lang="en-US" altLang="ko-KR" sz="2800" b="1" dirty="0" smtClean="0"/>
              <a:t>)</a:t>
            </a:r>
            <a:r>
              <a:rPr lang="ko-KR" altLang="en-US" sz="2800" b="1" dirty="0" smtClean="0"/>
              <a:t>의 수</a:t>
            </a:r>
            <a:endParaRPr lang="en-US" altLang="ko-KR" sz="2800" b="1" dirty="0" smtClean="0"/>
          </a:p>
          <a:p>
            <a:pPr marL="742950" lvl="2" indent="-342900"/>
            <a:r>
              <a:rPr lang="ko-KR" altLang="en-US" sz="2800" b="1" dirty="0"/>
              <a:t>유효한 </a:t>
            </a:r>
            <a:r>
              <a:rPr lang="ko-KR" altLang="en-US" sz="2800" b="1" dirty="0" err="1"/>
              <a:t>릴레이션의</a:t>
            </a:r>
            <a:r>
              <a:rPr lang="ko-KR" altLang="en-US" sz="2800" b="1" dirty="0"/>
              <a:t> 최소 차수는 </a:t>
            </a:r>
            <a:r>
              <a:rPr lang="en-US" altLang="ko-KR" sz="2800" b="1" dirty="0" smtClean="0"/>
              <a:t>1</a:t>
            </a:r>
          </a:p>
          <a:p>
            <a:pPr marL="742950" lvl="2" indent="-342900"/>
            <a:r>
              <a:rPr lang="ko-KR" altLang="en-US" sz="2800" b="1" dirty="0" err="1"/>
              <a:t>릴레이션의</a:t>
            </a:r>
            <a:r>
              <a:rPr lang="ko-KR" altLang="en-US" sz="2800" b="1" dirty="0"/>
              <a:t> 차수는 자주 바뀌지 </a:t>
            </a:r>
            <a:r>
              <a:rPr lang="ko-KR" altLang="en-US" sz="2800" b="1" dirty="0" smtClean="0"/>
              <a:t>않음</a:t>
            </a:r>
            <a:endParaRPr lang="en-US" altLang="ko-KR" sz="2800" b="1" dirty="0" smtClean="0"/>
          </a:p>
          <a:p>
            <a:pPr marL="742950" lvl="2" indent="-342900"/>
            <a:endParaRPr lang="en-US" altLang="ko-KR" sz="2800" b="1" dirty="0" smtClean="0"/>
          </a:p>
          <a:p>
            <a:r>
              <a:rPr lang="ko-KR" altLang="en-US" dirty="0" err="1" smtClean="0"/>
              <a:t>카디날리티</a:t>
            </a:r>
            <a:r>
              <a:rPr lang="en-US" altLang="ko-KR" dirty="0"/>
              <a:t>(cardinality</a:t>
            </a:r>
            <a:r>
              <a:rPr lang="en-US" altLang="ko-KR" dirty="0" smtClean="0"/>
              <a:t>)</a:t>
            </a:r>
          </a:p>
          <a:p>
            <a:pPr lvl="1" eaLnBrk="1" hangingPunct="1"/>
            <a:r>
              <a:rPr lang="ko-KR" altLang="en-US" dirty="0" err="1" smtClean="0"/>
              <a:t>릴레이션의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튜플</a:t>
            </a:r>
            <a:r>
              <a:rPr lang="en-US" altLang="ko-KR" dirty="0" smtClean="0"/>
              <a:t>(</a:t>
            </a:r>
            <a:r>
              <a:rPr lang="ko-KR" altLang="en-US" dirty="0" smtClean="0"/>
              <a:t>행</a:t>
            </a:r>
            <a:r>
              <a:rPr lang="en-US" altLang="ko-KR" dirty="0" smtClean="0"/>
              <a:t>)</a:t>
            </a:r>
            <a:r>
              <a:rPr lang="ko-KR" altLang="en-US" dirty="0" smtClean="0"/>
              <a:t> 수</a:t>
            </a:r>
          </a:p>
          <a:p>
            <a:pPr lvl="1" eaLnBrk="1" hangingPunct="1"/>
            <a:r>
              <a:rPr lang="ko-KR" altLang="en-US" dirty="0" smtClean="0"/>
              <a:t>유효한 </a:t>
            </a:r>
            <a:r>
              <a:rPr lang="ko-KR" altLang="en-US" dirty="0" err="1" smtClean="0"/>
              <a:t>릴레이션은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카디날리티</a:t>
            </a:r>
            <a:r>
              <a:rPr lang="ko-KR" altLang="en-US" dirty="0" smtClean="0"/>
              <a:t>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을 가질 수 있음</a:t>
            </a:r>
          </a:p>
          <a:p>
            <a:pPr lvl="1" eaLnBrk="1" hangingPunct="1"/>
            <a:r>
              <a:rPr lang="ko-KR" altLang="en-US" dirty="0" smtClean="0"/>
              <a:t>시간이 지남에 따라 계속해서 변함</a:t>
            </a:r>
          </a:p>
          <a:p>
            <a:pPr lvl="1" eaLnBrk="1" hangingPunct="1"/>
            <a:endParaRPr lang="en-US" altLang="ko-KR" dirty="0" smtClean="0"/>
          </a:p>
        </p:txBody>
      </p:sp>
      <p:sp>
        <p:nvSpPr>
          <p:cNvPr id="14340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관계 데이터 모델의 개념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ko-KR" dirty="0" smtClean="0"/>
              <a:t> </a:t>
            </a:r>
            <a:r>
              <a:rPr lang="ko-KR" altLang="en-US" dirty="0" err="1" smtClean="0"/>
              <a:t>널값</a:t>
            </a:r>
            <a:r>
              <a:rPr lang="en-US" altLang="ko-KR" dirty="0" smtClean="0"/>
              <a:t>(null value) </a:t>
            </a:r>
          </a:p>
          <a:p>
            <a:pPr lvl="1" eaLnBrk="1" hangingPunct="1"/>
            <a:r>
              <a:rPr lang="en-US" altLang="ko-KR" dirty="0" smtClean="0"/>
              <a:t>‘</a:t>
            </a:r>
            <a:r>
              <a:rPr lang="ko-KR" altLang="en-US" dirty="0" smtClean="0">
                <a:solidFill>
                  <a:srgbClr val="FF0000"/>
                </a:solidFill>
              </a:rPr>
              <a:t>알려지지 않음</a:t>
            </a:r>
            <a:r>
              <a:rPr lang="ko-KR" altLang="en-US" dirty="0" smtClean="0"/>
              <a:t>’ 또는 ‘</a:t>
            </a:r>
            <a:r>
              <a:rPr lang="ko-KR" altLang="en-US" dirty="0" smtClean="0">
                <a:solidFill>
                  <a:srgbClr val="FF0000"/>
                </a:solidFill>
              </a:rPr>
              <a:t>적용할 수 없음</a:t>
            </a:r>
            <a:r>
              <a:rPr lang="ko-KR" altLang="en-US" dirty="0" smtClean="0"/>
              <a:t>’을 나타내기 위해 </a:t>
            </a:r>
            <a:r>
              <a:rPr lang="ko-KR" altLang="en-US" dirty="0" err="1" smtClean="0"/>
              <a:t>널값을</a:t>
            </a:r>
            <a:r>
              <a:rPr lang="ko-KR" altLang="en-US" dirty="0" smtClean="0"/>
              <a:t> 사용</a:t>
            </a:r>
          </a:p>
          <a:p>
            <a:pPr lvl="1" eaLnBrk="1" hangingPunct="1"/>
            <a:r>
              <a:rPr lang="ko-KR" altLang="en-US" dirty="0" smtClean="0"/>
              <a:t>예</a:t>
            </a:r>
            <a:r>
              <a:rPr lang="en-US" altLang="ko-KR" dirty="0" smtClean="0"/>
              <a:t>: </a:t>
            </a:r>
            <a:r>
              <a:rPr lang="ko-KR" altLang="en-US" dirty="0" smtClean="0"/>
              <a:t>사원 </a:t>
            </a:r>
            <a:r>
              <a:rPr lang="ko-KR" altLang="en-US" dirty="0" err="1" smtClean="0"/>
              <a:t>릴레이션에</a:t>
            </a:r>
            <a:r>
              <a:rPr lang="ko-KR" altLang="en-US" dirty="0" smtClean="0"/>
              <a:t> 새로운 사원에 관한 </a:t>
            </a:r>
            <a:r>
              <a:rPr lang="ko-KR" altLang="en-US" dirty="0" err="1" smtClean="0"/>
              <a:t>튜플을</a:t>
            </a:r>
            <a:r>
              <a:rPr lang="ko-KR" altLang="en-US" dirty="0" smtClean="0"/>
              <a:t> 입력하는데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신입 사원의 </a:t>
            </a:r>
            <a:r>
              <a:rPr lang="en-US" altLang="ko-KR" dirty="0" smtClean="0"/>
              <a:t>DNO(</a:t>
            </a:r>
            <a:r>
              <a:rPr lang="ko-KR" altLang="en-US" dirty="0" smtClean="0"/>
              <a:t>부서번호</a:t>
            </a:r>
            <a:r>
              <a:rPr lang="en-US" altLang="ko-KR" dirty="0" smtClean="0"/>
              <a:t>)</a:t>
            </a:r>
            <a:r>
              <a:rPr lang="ko-KR" altLang="en-US" dirty="0" smtClean="0"/>
              <a:t>가 </a:t>
            </a:r>
            <a:r>
              <a:rPr lang="ko-KR" altLang="en-US" dirty="0" smtClean="0">
                <a:solidFill>
                  <a:srgbClr val="FF0000"/>
                </a:solidFill>
              </a:rPr>
              <a:t>결정되지 않았을 </a:t>
            </a:r>
            <a:r>
              <a:rPr lang="ko-KR" altLang="en-US" dirty="0" smtClean="0"/>
              <a:t>수 있음</a:t>
            </a:r>
          </a:p>
          <a:p>
            <a:pPr lvl="1" eaLnBrk="1" hangingPunct="1"/>
            <a:r>
              <a:rPr lang="ko-KR" altLang="en-US" dirty="0" err="1" smtClean="0"/>
              <a:t>널값은</a:t>
            </a:r>
            <a:r>
              <a:rPr lang="ko-KR" altLang="en-US" dirty="0" smtClean="0"/>
              <a:t> 숫자 도메인의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이나 문자열 도메인의 공백 문자 또는 공백 문자열과 다름</a:t>
            </a:r>
          </a:p>
          <a:p>
            <a:pPr lvl="1" eaLnBrk="1" hangingPunct="1"/>
            <a:r>
              <a:rPr lang="en-US" altLang="ko-KR" dirty="0" smtClean="0"/>
              <a:t>DBMS</a:t>
            </a:r>
            <a:r>
              <a:rPr lang="ko-KR" altLang="en-US" dirty="0" smtClean="0"/>
              <a:t>들마다 </a:t>
            </a:r>
            <a:r>
              <a:rPr lang="ko-KR" altLang="en-US" dirty="0" err="1" smtClean="0"/>
              <a:t>널값을</a:t>
            </a:r>
            <a:r>
              <a:rPr lang="ko-KR" altLang="en-US" dirty="0" smtClean="0"/>
              <a:t> 나타내기 위해 서로 다른 기호를 사용함 </a:t>
            </a:r>
          </a:p>
          <a:p>
            <a:pPr lvl="1" eaLnBrk="1" hangingPunct="1"/>
            <a:endParaRPr lang="en-US" altLang="ko-KR" dirty="0" smtClean="0"/>
          </a:p>
        </p:txBody>
      </p:sp>
      <p:sp>
        <p:nvSpPr>
          <p:cNvPr id="16388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en-US" altLang="ko-KR" smtClean="0"/>
              <a:t>2.1 </a:t>
            </a:r>
            <a:r>
              <a:rPr lang="ko-KR" altLang="en-US" smtClean="0"/>
              <a:t>관계 데이터 모델의 개념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 </a:t>
            </a:r>
            <a:r>
              <a:rPr lang="ko-KR" altLang="en-US" dirty="0" err="1" smtClean="0"/>
              <a:t>릴레이션</a:t>
            </a:r>
            <a:r>
              <a:rPr lang="ko-KR" altLang="en-US" dirty="0" smtClean="0"/>
              <a:t> 스키마</a:t>
            </a:r>
            <a:r>
              <a:rPr lang="en-US" altLang="ko-KR" dirty="0" smtClean="0"/>
              <a:t>(relation schema)</a:t>
            </a:r>
          </a:p>
          <a:p>
            <a:pPr lvl="1" eaLnBrk="1" hangingPunct="1"/>
            <a:r>
              <a:rPr lang="ko-KR" altLang="en-US" dirty="0" err="1" smtClean="0"/>
              <a:t>릴레이션의</a:t>
            </a:r>
            <a:r>
              <a:rPr lang="ko-KR" altLang="en-US" dirty="0" smtClean="0"/>
              <a:t> 이름과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</a:t>
            </a:r>
            <a:r>
              <a:rPr lang="ko-KR" altLang="en-US" dirty="0" err="1" smtClean="0">
                <a:solidFill>
                  <a:srgbClr val="FF0000"/>
                </a:solidFill>
              </a:rPr>
              <a:t>애트리뷰트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열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r>
              <a:rPr lang="ko-KR" altLang="en-US" dirty="0" smtClean="0">
                <a:solidFill>
                  <a:srgbClr val="FF0000"/>
                </a:solidFill>
              </a:rPr>
              <a:t>들의 집합</a:t>
            </a:r>
          </a:p>
          <a:p>
            <a:pPr lvl="1" eaLnBrk="1" hangingPunct="1"/>
            <a:r>
              <a:rPr lang="ko-KR" altLang="en-US" dirty="0" err="1" smtClean="0"/>
              <a:t>릴레이션을</a:t>
            </a:r>
            <a:r>
              <a:rPr lang="ko-KR" altLang="en-US" dirty="0" smtClean="0"/>
              <a:t> 위한 틀</a:t>
            </a:r>
            <a:r>
              <a:rPr lang="en-US" altLang="ko-KR" dirty="0" smtClean="0"/>
              <a:t>(framework)</a:t>
            </a:r>
          </a:p>
          <a:p>
            <a:pPr lvl="1" eaLnBrk="1" hangingPunct="1"/>
            <a:r>
              <a:rPr lang="ko-KR" altLang="en-US" dirty="0" smtClean="0"/>
              <a:t>표기법</a:t>
            </a:r>
          </a:p>
          <a:p>
            <a:pPr lvl="1" eaLnBrk="1" hangingPunct="1"/>
            <a:r>
              <a:rPr lang="ko-KR" altLang="en-US" dirty="0" err="1" smtClean="0"/>
              <a:t>릴레이션이름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애트리뷰트</a:t>
            </a:r>
            <a:r>
              <a:rPr lang="en-US" altLang="ko-KR" dirty="0" smtClean="0"/>
              <a:t>1, </a:t>
            </a:r>
            <a:r>
              <a:rPr lang="ko-KR" altLang="en-US" dirty="0" err="1" smtClean="0"/>
              <a:t>애트리뷰트</a:t>
            </a:r>
            <a:r>
              <a:rPr lang="en-US" altLang="ko-KR" dirty="0" smtClean="0"/>
              <a:t>2, ... </a:t>
            </a:r>
            <a:r>
              <a:rPr lang="ko-KR" altLang="en-US" dirty="0" err="1" smtClean="0"/>
              <a:t>애트리뷰트</a:t>
            </a:r>
            <a:r>
              <a:rPr lang="en-US" altLang="ko-KR" dirty="0" smtClean="0"/>
              <a:t>N)</a:t>
            </a:r>
          </a:p>
          <a:p>
            <a:pPr lvl="1" eaLnBrk="1" hangingPunct="1"/>
            <a:r>
              <a:rPr lang="ko-KR" altLang="en-US" dirty="0" smtClean="0"/>
              <a:t>기본 키 </a:t>
            </a:r>
            <a:r>
              <a:rPr lang="ko-KR" altLang="en-US" dirty="0" err="1" smtClean="0"/>
              <a:t>애트리뷰트에는</a:t>
            </a:r>
            <a:r>
              <a:rPr lang="ko-KR" altLang="en-US" dirty="0" smtClean="0"/>
              <a:t> 밑줄 표시</a:t>
            </a:r>
          </a:p>
          <a:p>
            <a:pPr lvl="1" eaLnBrk="1" hangingPunct="1"/>
            <a:r>
              <a:rPr lang="ko-KR" altLang="en-US" dirty="0" smtClean="0"/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내포</a:t>
            </a:r>
            <a:r>
              <a:rPr lang="en-US" altLang="ko-KR" dirty="0" smtClean="0">
                <a:solidFill>
                  <a:srgbClr val="FF0000"/>
                </a:solidFill>
              </a:rPr>
              <a:t>(intension)</a:t>
            </a:r>
            <a:r>
              <a:rPr lang="ko-KR" altLang="en-US" dirty="0" smtClean="0"/>
              <a:t>라고 함</a:t>
            </a:r>
          </a:p>
          <a:p>
            <a:pPr lvl="1" eaLnBrk="1" hangingPunct="1"/>
            <a:endParaRPr lang="en-US" altLang="ko-KR" dirty="0" smtClean="0"/>
          </a:p>
        </p:txBody>
      </p:sp>
      <p:sp>
        <p:nvSpPr>
          <p:cNvPr id="17412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관계 데이터 모델의 개념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 </a:t>
            </a:r>
            <a:r>
              <a:rPr lang="ko-KR" altLang="en-US" dirty="0" err="1" smtClean="0"/>
              <a:t>릴레이션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인스턴스</a:t>
            </a:r>
            <a:r>
              <a:rPr lang="en-US" altLang="ko-KR" dirty="0" smtClean="0"/>
              <a:t>(relation instance)</a:t>
            </a:r>
          </a:p>
          <a:p>
            <a:pPr lvl="1" eaLnBrk="1" hangingPunct="1"/>
            <a:r>
              <a:rPr lang="ko-KR" altLang="en-US" dirty="0" err="1" smtClean="0"/>
              <a:t>릴레이션에</a:t>
            </a:r>
            <a:r>
              <a:rPr lang="ko-KR" altLang="en-US" dirty="0" smtClean="0"/>
              <a:t> 어느 시점에 들어 있는 </a:t>
            </a:r>
            <a:r>
              <a:rPr lang="ko-KR" altLang="en-US" dirty="0" err="1" smtClean="0">
                <a:solidFill>
                  <a:srgbClr val="FF0000"/>
                </a:solidFill>
              </a:rPr>
              <a:t>튜플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행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r>
              <a:rPr lang="ko-KR" altLang="en-US" dirty="0" smtClean="0">
                <a:solidFill>
                  <a:srgbClr val="FF0000"/>
                </a:solidFill>
              </a:rPr>
              <a:t>들의 집합</a:t>
            </a:r>
          </a:p>
          <a:p>
            <a:pPr lvl="1" eaLnBrk="1" hangingPunct="1"/>
            <a:r>
              <a:rPr lang="ko-KR" altLang="en-US" dirty="0" smtClean="0"/>
              <a:t>시간의 흐름에 따라 계속 변함</a:t>
            </a:r>
          </a:p>
          <a:p>
            <a:pPr lvl="1" eaLnBrk="1" hangingPunct="1"/>
            <a:r>
              <a:rPr lang="ko-KR" altLang="en-US" dirty="0" smtClean="0"/>
              <a:t>일반적으로 </a:t>
            </a:r>
            <a:r>
              <a:rPr lang="ko-KR" altLang="en-US" dirty="0" err="1" smtClean="0"/>
              <a:t>릴레이션에는</a:t>
            </a:r>
            <a:r>
              <a:rPr lang="ko-KR" altLang="en-US" dirty="0" smtClean="0"/>
              <a:t> 현재의 </a:t>
            </a:r>
            <a:r>
              <a:rPr lang="ko-KR" altLang="en-US" dirty="0" err="1" smtClean="0"/>
              <a:t>인스턴스만</a:t>
            </a:r>
            <a:r>
              <a:rPr lang="ko-KR" altLang="en-US" dirty="0" smtClean="0"/>
              <a:t> 저장됨 </a:t>
            </a:r>
          </a:p>
          <a:p>
            <a:pPr lvl="1" eaLnBrk="1" hangingPunct="1"/>
            <a:r>
              <a:rPr lang="ko-KR" altLang="en-US" dirty="0" smtClean="0"/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외연</a:t>
            </a:r>
            <a:r>
              <a:rPr lang="en-US" altLang="ko-KR" dirty="0" smtClean="0">
                <a:solidFill>
                  <a:srgbClr val="FF0000"/>
                </a:solidFill>
              </a:rPr>
              <a:t>(extension)</a:t>
            </a:r>
            <a:r>
              <a:rPr lang="ko-KR" altLang="en-US" dirty="0" smtClean="0"/>
              <a:t>이라고 함</a:t>
            </a:r>
          </a:p>
          <a:p>
            <a:pPr lvl="1" eaLnBrk="1" hangingPunct="1"/>
            <a:endParaRPr lang="en-US" altLang="ko-KR" dirty="0" smtClean="0"/>
          </a:p>
        </p:txBody>
      </p:sp>
      <p:sp>
        <p:nvSpPr>
          <p:cNvPr id="18436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관계 데이터 모델의 개념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관계 데이터 모델의 개념</a:t>
            </a:r>
          </a:p>
        </p:txBody>
      </p:sp>
      <p:graphicFrame>
        <p:nvGraphicFramePr>
          <p:cNvPr id="6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675604765"/>
              </p:ext>
            </p:extLst>
          </p:nvPr>
        </p:nvGraphicFramePr>
        <p:xfrm>
          <a:off x="845555" y="1931988"/>
          <a:ext cx="6735763" cy="2744788"/>
        </p:xfrm>
        <a:graphic>
          <a:graphicData uri="http://schemas.openxmlformats.org/drawingml/2006/table">
            <a:tbl>
              <a:tblPr/>
              <a:tblGrid>
                <a:gridCol w="1347788"/>
                <a:gridCol w="1346200"/>
                <a:gridCol w="1347787"/>
                <a:gridCol w="1346200"/>
                <a:gridCol w="1347788"/>
              </a:tblGrid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EMPNO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EMPNAME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TITLE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DNO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SALARY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2106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김창섭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대리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2000000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3426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박영권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과장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2500000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3011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이수민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부장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3000000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조민희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대리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2000000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791580" y="1838325"/>
            <a:ext cx="6853238" cy="658813"/>
          </a:xfrm>
          <a:prstGeom prst="rect">
            <a:avLst/>
          </a:prstGeom>
          <a:noFill/>
          <a:ln w="22225" algn="ctr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144000" tIns="144000" rIns="144000" bIns="144000" anchor="ctr"/>
          <a:lstStyle/>
          <a:p>
            <a:endParaRPr lang="ko-KR" altLang="en-US" sz="2400" b="1"/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791580" y="2536825"/>
            <a:ext cx="6853238" cy="2222500"/>
          </a:xfrm>
          <a:prstGeom prst="rect">
            <a:avLst/>
          </a:prstGeom>
          <a:noFill/>
          <a:ln w="22225" algn="ctr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lIns="144000" tIns="144000" rIns="144000" bIns="144000" anchor="ctr"/>
          <a:lstStyle/>
          <a:p>
            <a:endParaRPr lang="ko-KR" altLang="en-US" sz="2400" b="1"/>
          </a:p>
        </p:txBody>
      </p:sp>
      <p:sp>
        <p:nvSpPr>
          <p:cNvPr id="10" name="Text Box 50"/>
          <p:cNvSpPr txBox="1">
            <a:spLocks noChangeArrowheads="1"/>
          </p:cNvSpPr>
          <p:nvPr/>
        </p:nvSpPr>
        <p:spPr bwMode="auto">
          <a:xfrm>
            <a:off x="7732129" y="1936898"/>
            <a:ext cx="7873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pPr algn="l" eaLnBrk="1" latinLnBrk="1" hangingPunct="1"/>
            <a:r>
              <a:rPr lang="ko-KR" altLang="en-US" sz="2400" b="1" dirty="0">
                <a:latin typeface="MS PGothic" pitchFamily="34" charset="-128"/>
              </a:rPr>
              <a:t>내포</a:t>
            </a:r>
          </a:p>
        </p:txBody>
      </p:sp>
      <p:sp>
        <p:nvSpPr>
          <p:cNvPr id="11" name="Text Box 51"/>
          <p:cNvSpPr txBox="1">
            <a:spLocks noChangeArrowheads="1"/>
          </p:cNvSpPr>
          <p:nvPr/>
        </p:nvSpPr>
        <p:spPr bwMode="auto">
          <a:xfrm>
            <a:off x="7732130" y="3479800"/>
            <a:ext cx="7873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pPr algn="l" eaLnBrk="1" latinLnBrk="1" hangingPunct="1"/>
            <a:r>
              <a:rPr lang="ko-KR" altLang="en-US" sz="2400" b="1" dirty="0">
                <a:latin typeface="MS PGothic" pitchFamily="34" charset="-128"/>
              </a:rPr>
              <a:t>외연</a:t>
            </a:r>
          </a:p>
        </p:txBody>
      </p:sp>
    </p:spTree>
    <p:extLst>
      <p:ext uri="{BB962C8B-B14F-4D97-AF65-F5344CB8AC3E}">
        <p14:creationId xmlns:p14="http://schemas.microsoft.com/office/powerpoint/2010/main" xmlns="" val="8234953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199" y="909761"/>
            <a:ext cx="8480285" cy="5361459"/>
          </a:xfrm>
        </p:spPr>
        <p:txBody>
          <a:bodyPr/>
          <a:lstStyle/>
          <a:p>
            <a:pPr eaLnBrk="1" hangingPunct="1"/>
            <a:r>
              <a:rPr lang="ko-KR" altLang="en-US" dirty="0" err="1" smtClean="0"/>
              <a:t>릴레이션</a:t>
            </a:r>
            <a:r>
              <a:rPr lang="en-US" altLang="ko-KR" dirty="0" smtClean="0"/>
              <a:t>(</a:t>
            </a:r>
            <a:r>
              <a:rPr lang="ko-KR" altLang="en-US" dirty="0" smtClean="0"/>
              <a:t>테이블</a:t>
            </a:r>
            <a:r>
              <a:rPr lang="en-US" altLang="ko-KR" dirty="0" smtClean="0"/>
              <a:t>)</a:t>
            </a:r>
            <a:r>
              <a:rPr lang="ko-KR" altLang="en-US" dirty="0"/>
              <a:t> </a:t>
            </a:r>
            <a:r>
              <a:rPr lang="en-US" altLang="ko-KR" dirty="0" smtClean="0"/>
              <a:t>:</a:t>
            </a:r>
            <a:r>
              <a:rPr lang="ko-KR" altLang="en-US" dirty="0" err="1" smtClean="0"/>
              <a:t>튜플</a:t>
            </a:r>
            <a:r>
              <a:rPr lang="en-US" altLang="ko-KR" dirty="0" smtClean="0"/>
              <a:t>(</a:t>
            </a:r>
            <a:r>
              <a:rPr lang="ko-KR" altLang="en-US" dirty="0" smtClean="0"/>
              <a:t>행</a:t>
            </a:r>
            <a:r>
              <a:rPr lang="en-US" altLang="ko-KR" dirty="0" smtClean="0"/>
              <a:t>)</a:t>
            </a:r>
            <a:r>
              <a:rPr lang="ko-KR" altLang="en-US" dirty="0" smtClean="0"/>
              <a:t>들의 집합</a:t>
            </a:r>
          </a:p>
          <a:p>
            <a:pPr eaLnBrk="1" hangingPunct="1"/>
            <a:r>
              <a:rPr lang="ko-KR" altLang="en-US" dirty="0" err="1" smtClean="0"/>
              <a:t>릴레이션의</a:t>
            </a:r>
            <a:r>
              <a:rPr lang="ko-KR" altLang="en-US" dirty="0" smtClean="0"/>
              <a:t> 특성</a:t>
            </a:r>
          </a:p>
          <a:p>
            <a:pPr lvl="1" eaLnBrk="1" hangingPunct="1"/>
            <a:r>
              <a:rPr lang="ko-KR" altLang="en-US" dirty="0" smtClean="0"/>
              <a:t>각 </a:t>
            </a:r>
            <a:r>
              <a:rPr lang="ko-KR" altLang="en-US" dirty="0" err="1" smtClean="0"/>
              <a:t>릴레이션은</a:t>
            </a:r>
            <a:r>
              <a:rPr lang="ko-KR" altLang="en-US" dirty="0" smtClean="0"/>
              <a:t> 오직 하나의 레코드 타입만 포함</a:t>
            </a:r>
          </a:p>
          <a:p>
            <a:pPr lvl="1" eaLnBrk="1" hangingPunct="1"/>
            <a:r>
              <a:rPr lang="ko-KR" altLang="en-US" dirty="0" smtClean="0"/>
              <a:t>한 </a:t>
            </a:r>
            <a:r>
              <a:rPr lang="ko-KR" altLang="en-US" dirty="0" err="1" smtClean="0"/>
              <a:t>애트리뷰트</a:t>
            </a:r>
            <a:r>
              <a:rPr lang="ko-KR" altLang="en-US" dirty="0" smtClean="0"/>
              <a:t> 내의 값들은  모두 같은 유형</a:t>
            </a:r>
          </a:p>
          <a:p>
            <a:pPr lvl="1" eaLnBrk="1" hangingPunct="1"/>
            <a:r>
              <a:rPr lang="ko-KR" altLang="en-US" dirty="0" err="1" smtClean="0"/>
              <a:t>애트리뷰트들의</a:t>
            </a:r>
            <a:r>
              <a:rPr lang="ko-KR" altLang="en-US" dirty="0" smtClean="0"/>
              <a:t> 순서는  중요하지 않음</a:t>
            </a:r>
            <a:endParaRPr lang="en-US" altLang="ko-KR" dirty="0" smtClean="0"/>
          </a:p>
          <a:p>
            <a:pPr lvl="1"/>
            <a:r>
              <a:rPr lang="ko-KR" altLang="en-US" dirty="0"/>
              <a:t>동일한 </a:t>
            </a:r>
            <a:r>
              <a:rPr lang="ko-KR" altLang="en-US" dirty="0" err="1"/>
              <a:t>튜플이</a:t>
            </a:r>
            <a:r>
              <a:rPr lang="ko-KR" altLang="en-US" dirty="0"/>
              <a:t> 두 개 이상 존재하지 않음</a:t>
            </a:r>
          </a:p>
          <a:p>
            <a:pPr lvl="1" eaLnBrk="1" hangingPunct="1"/>
            <a:endParaRPr lang="ko-KR" altLang="en-US" dirty="0" smtClean="0"/>
          </a:p>
        </p:txBody>
      </p:sp>
      <p:graphicFrame>
        <p:nvGraphicFramePr>
          <p:cNvPr id="232486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821725005"/>
              </p:ext>
            </p:extLst>
          </p:nvPr>
        </p:nvGraphicFramePr>
        <p:xfrm>
          <a:off x="1061610" y="4464115"/>
          <a:ext cx="3513138" cy="1431926"/>
        </p:xfrm>
        <a:graphic>
          <a:graphicData uri="http://schemas.openxmlformats.org/drawingml/2006/table">
            <a:tbl>
              <a:tblPr/>
              <a:tblGrid>
                <a:gridCol w="1046163"/>
                <a:gridCol w="1366837"/>
                <a:gridCol w="1100138"/>
              </a:tblGrid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DEPTNO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DEPTNAME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FLOOR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영업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기획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개발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2517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63760147"/>
              </p:ext>
            </p:extLst>
          </p:nvPr>
        </p:nvGraphicFramePr>
        <p:xfrm>
          <a:off x="4935110" y="4484753"/>
          <a:ext cx="3513138" cy="1431926"/>
        </p:xfrm>
        <a:graphic>
          <a:graphicData uri="http://schemas.openxmlformats.org/drawingml/2006/table">
            <a:tbl>
              <a:tblPr/>
              <a:tblGrid>
                <a:gridCol w="917575"/>
                <a:gridCol w="1071563"/>
                <a:gridCol w="1524000"/>
              </a:tblGrid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FLOOR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DEPTNO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DEPTNAME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영업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기획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개발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602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err="1" smtClean="0"/>
              <a:t>릴레이션</a:t>
            </a:r>
            <a:endParaRPr lang="ko-KR" altLang="en-US" dirty="0" smtClean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 smtClean="0"/>
              <a:t>각 </a:t>
            </a:r>
            <a:r>
              <a:rPr lang="ko-KR" altLang="en-US" dirty="0" err="1" smtClean="0"/>
              <a:t>튜플을</a:t>
            </a:r>
            <a:r>
              <a:rPr lang="ko-KR" altLang="en-US" dirty="0" smtClean="0"/>
              <a:t> 고유하게 식별할 수 있는 하나 이상의 </a:t>
            </a:r>
            <a:r>
              <a:rPr lang="ko-KR" altLang="en-US" dirty="0" err="1" smtClean="0"/>
              <a:t>애트리뷰트</a:t>
            </a:r>
            <a:r>
              <a:rPr lang="en-US" altLang="ko-KR" dirty="0" smtClean="0"/>
              <a:t>(</a:t>
            </a:r>
            <a:r>
              <a:rPr lang="ko-KR" altLang="en-US" dirty="0" smtClean="0"/>
              <a:t>열</a:t>
            </a:r>
            <a:r>
              <a:rPr lang="en-US" altLang="ko-KR" dirty="0" smtClean="0"/>
              <a:t>)</a:t>
            </a:r>
            <a:r>
              <a:rPr lang="ko-KR" altLang="en-US" dirty="0" smtClean="0"/>
              <a:t>들의 모임</a:t>
            </a:r>
          </a:p>
          <a:p>
            <a:pPr lvl="1" eaLnBrk="1" hangingPunct="1"/>
            <a:r>
              <a:rPr lang="ko-KR" altLang="en-US" dirty="0" smtClean="0"/>
              <a:t> 슈퍼 키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superkey</a:t>
            </a:r>
            <a:r>
              <a:rPr lang="en-US" altLang="ko-KR" dirty="0" smtClean="0"/>
              <a:t>), </a:t>
            </a:r>
            <a:r>
              <a:rPr lang="ko-KR" altLang="en-US" dirty="0" smtClean="0"/>
              <a:t>후보 키</a:t>
            </a:r>
            <a:r>
              <a:rPr lang="en-US" altLang="ko-KR" dirty="0" smtClean="0"/>
              <a:t>(candidate key), </a:t>
            </a:r>
            <a:r>
              <a:rPr lang="ko-KR" altLang="en-US" dirty="0" smtClean="0"/>
              <a:t>기본 키</a:t>
            </a:r>
            <a:r>
              <a:rPr lang="en-US" altLang="ko-KR" dirty="0" smtClean="0"/>
              <a:t>(primary key), </a:t>
            </a:r>
            <a:r>
              <a:rPr lang="ko-KR" altLang="en-US" dirty="0" smtClean="0"/>
              <a:t>대체 키</a:t>
            </a:r>
            <a:r>
              <a:rPr lang="en-US" altLang="ko-KR" dirty="0" smtClean="0"/>
              <a:t>(alternate key), </a:t>
            </a:r>
            <a:r>
              <a:rPr lang="ko-KR" altLang="en-US" dirty="0" smtClean="0"/>
              <a:t>외래 키</a:t>
            </a:r>
            <a:r>
              <a:rPr lang="en-US" altLang="ko-KR" dirty="0" smtClean="0"/>
              <a:t>(foreign key)</a:t>
            </a:r>
          </a:p>
          <a:p>
            <a:pPr lvl="1" eaLnBrk="1" hangingPunct="1"/>
            <a:endParaRPr lang="en-US" altLang="ko-KR" dirty="0" smtClean="0"/>
          </a:p>
          <a:p>
            <a:r>
              <a:rPr lang="ko-KR" altLang="en-US" dirty="0">
                <a:solidFill>
                  <a:srgbClr val="FF0000"/>
                </a:solidFill>
              </a:rPr>
              <a:t>슈퍼 키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en-US" altLang="ko-KR" dirty="0" err="1">
                <a:solidFill>
                  <a:srgbClr val="FF0000"/>
                </a:solidFill>
              </a:rPr>
              <a:t>superkey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ko-KR" altLang="en-US" dirty="0" smtClean="0"/>
              <a:t>한 </a:t>
            </a:r>
            <a:r>
              <a:rPr lang="ko-KR" altLang="en-US" dirty="0" err="1" smtClean="0"/>
              <a:t>릴레이션</a:t>
            </a:r>
            <a:r>
              <a:rPr lang="ko-KR" altLang="en-US" dirty="0" smtClean="0"/>
              <a:t> 내의 </a:t>
            </a:r>
            <a:r>
              <a:rPr lang="ko-KR" altLang="en-US" dirty="0" err="1" smtClean="0"/>
              <a:t>튜플을</a:t>
            </a:r>
            <a:r>
              <a:rPr lang="ko-KR" altLang="en-US" dirty="0" smtClean="0"/>
              <a:t> 고유하게 식별하는 </a:t>
            </a:r>
            <a:r>
              <a:rPr lang="ko-KR" altLang="en-US" dirty="0" err="1" smtClean="0"/>
              <a:t>애트리뷰트들의</a:t>
            </a:r>
            <a:r>
              <a:rPr lang="ko-KR" altLang="en-US" dirty="0" smtClean="0"/>
              <a:t> 집합</a:t>
            </a:r>
          </a:p>
          <a:p>
            <a:pPr lvl="1" eaLnBrk="1" hangingPunct="1"/>
            <a:r>
              <a:rPr lang="ko-KR" altLang="en-US" dirty="0" smtClean="0"/>
              <a:t>예</a:t>
            </a:r>
            <a:r>
              <a:rPr lang="en-US" altLang="ko-KR" dirty="0" smtClean="0"/>
              <a:t>: (</a:t>
            </a:r>
            <a:r>
              <a:rPr lang="ko-KR" altLang="en-US" u="sng" dirty="0" smtClean="0"/>
              <a:t>신용카드번호</a:t>
            </a:r>
            <a:r>
              <a:rPr lang="en-US" altLang="ko-KR" u="sng" dirty="0" smtClean="0"/>
              <a:t>, </a:t>
            </a:r>
            <a:r>
              <a:rPr lang="ko-KR" altLang="en-US" u="sng" dirty="0" smtClean="0"/>
              <a:t>주소</a:t>
            </a:r>
            <a:r>
              <a:rPr lang="en-US" altLang="ko-KR" dirty="0" smtClean="0"/>
              <a:t>) (</a:t>
            </a:r>
            <a:r>
              <a:rPr lang="ko-KR" altLang="en-US" u="sng" dirty="0" smtClean="0"/>
              <a:t>주민등록번호</a:t>
            </a:r>
            <a:r>
              <a:rPr lang="en-US" altLang="ko-KR" dirty="0" smtClean="0"/>
              <a:t>)</a:t>
            </a:r>
          </a:p>
        </p:txBody>
      </p:sp>
      <p:sp>
        <p:nvSpPr>
          <p:cNvPr id="27652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err="1" smtClean="0"/>
              <a:t>릴레이션의</a:t>
            </a:r>
            <a:r>
              <a:rPr lang="ko-KR" altLang="en-US" dirty="0" smtClean="0"/>
              <a:t> 키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 smtClean="0">
                <a:solidFill>
                  <a:srgbClr val="FF0000"/>
                </a:solidFill>
              </a:rPr>
              <a:t>후보키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en-US" altLang="ko-KR" dirty="0" err="1" smtClean="0">
                <a:solidFill>
                  <a:srgbClr val="FF0000"/>
                </a:solidFill>
              </a:rPr>
              <a:t>CK:Candidate</a:t>
            </a:r>
            <a:r>
              <a:rPr lang="en-US" altLang="ko-KR" dirty="0" smtClean="0">
                <a:solidFill>
                  <a:srgbClr val="FF0000"/>
                </a:solidFill>
              </a:rPr>
              <a:t> Key)</a:t>
            </a:r>
          </a:p>
          <a:p>
            <a:pPr lvl="1"/>
            <a:r>
              <a:rPr lang="ko-KR" altLang="en-US" dirty="0" err="1" smtClean="0"/>
              <a:t>튜플을</a:t>
            </a:r>
            <a:r>
              <a:rPr lang="ko-KR" altLang="en-US" dirty="0" smtClean="0"/>
              <a:t> 고유하게 식별하는 최소한의 </a:t>
            </a:r>
            <a:r>
              <a:rPr lang="ko-KR" altLang="en-US" dirty="0" err="1" smtClean="0"/>
              <a:t>애트리뷰트들의</a:t>
            </a:r>
            <a:r>
              <a:rPr lang="ko-KR" altLang="en-US" dirty="0" smtClean="0"/>
              <a:t> 모임</a:t>
            </a:r>
          </a:p>
          <a:p>
            <a:pPr lvl="1" eaLnBrk="1" hangingPunct="1"/>
            <a:r>
              <a:rPr lang="ko-KR" altLang="en-US" dirty="0" smtClean="0"/>
              <a:t>예</a:t>
            </a:r>
            <a:r>
              <a:rPr lang="en-US" altLang="ko-KR" dirty="0" smtClean="0"/>
              <a:t>: (</a:t>
            </a:r>
            <a:r>
              <a:rPr lang="ko-KR" altLang="en-US" u="sng" dirty="0" smtClean="0"/>
              <a:t>신용카드번호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)</a:t>
            </a:r>
            <a:endParaRPr lang="ko-KR" altLang="en-US" dirty="0" smtClean="0"/>
          </a:p>
          <a:p>
            <a:pPr lvl="1" eaLnBrk="1" hangingPunct="1"/>
            <a:r>
              <a:rPr lang="ko-KR" altLang="en-US" dirty="0" smtClean="0"/>
              <a:t>모든 </a:t>
            </a:r>
            <a:r>
              <a:rPr lang="ko-KR" altLang="en-US" dirty="0" err="1" smtClean="0"/>
              <a:t>릴레이션에는</a:t>
            </a:r>
            <a:r>
              <a:rPr lang="ko-KR" altLang="en-US" dirty="0" smtClean="0"/>
              <a:t> 최소한 한 개 이상의 후보 키가 있음</a:t>
            </a:r>
          </a:p>
          <a:p>
            <a:pPr lvl="1"/>
            <a:r>
              <a:rPr lang="ko-KR" altLang="en-US" dirty="0"/>
              <a:t>복합 키</a:t>
            </a:r>
            <a:r>
              <a:rPr lang="en-US" altLang="ko-KR" dirty="0"/>
              <a:t>(composite key) </a:t>
            </a:r>
            <a:r>
              <a:rPr lang="en-US" altLang="ko-KR" dirty="0" smtClean="0"/>
              <a:t>:</a:t>
            </a:r>
            <a:r>
              <a:rPr lang="ko-KR" altLang="en-US" dirty="0" smtClean="0"/>
              <a:t>두 개 이상의 </a:t>
            </a:r>
            <a:r>
              <a:rPr lang="ko-KR" altLang="en-US" dirty="0" err="1" smtClean="0"/>
              <a:t>애트리뷰트로</a:t>
            </a:r>
            <a:r>
              <a:rPr lang="ko-KR" altLang="en-US" dirty="0" smtClean="0"/>
              <a:t> 이루어진 </a:t>
            </a:r>
            <a:r>
              <a:rPr lang="ko-KR" altLang="en-US" dirty="0" err="1" smtClean="0"/>
              <a:t>후보키</a:t>
            </a:r>
            <a:endParaRPr lang="ko-KR" altLang="en-US" dirty="0" smtClean="0"/>
          </a:p>
          <a:p>
            <a:pPr lvl="1" eaLnBrk="1" hangingPunct="1"/>
            <a:r>
              <a:rPr lang="ko-KR" altLang="en-US" dirty="0" smtClean="0"/>
              <a:t>예</a:t>
            </a:r>
            <a:r>
              <a:rPr lang="en-US" altLang="ko-KR" dirty="0" smtClean="0"/>
              <a:t>: (</a:t>
            </a:r>
            <a:r>
              <a:rPr lang="ko-KR" altLang="en-US" u="sng" dirty="0" smtClean="0"/>
              <a:t>학번</a:t>
            </a:r>
            <a:r>
              <a:rPr lang="en-US" altLang="ko-KR" u="sng" dirty="0" smtClean="0"/>
              <a:t>, </a:t>
            </a:r>
            <a:r>
              <a:rPr lang="ko-KR" altLang="en-US" u="sng" dirty="0" smtClean="0"/>
              <a:t>과목번호</a:t>
            </a:r>
            <a:r>
              <a:rPr lang="en-US" altLang="ko-KR" dirty="0" smtClean="0"/>
              <a:t>)</a:t>
            </a:r>
            <a:endParaRPr lang="ko-KR" altLang="en-US" dirty="0" smtClean="0"/>
          </a:p>
        </p:txBody>
      </p:sp>
      <p:sp>
        <p:nvSpPr>
          <p:cNvPr id="28704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err="1" smtClean="0"/>
              <a:t>릴레이션의</a:t>
            </a:r>
            <a:r>
              <a:rPr lang="ko-KR" altLang="en-US" dirty="0" smtClean="0"/>
              <a:t> 키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4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err="1" smtClean="0"/>
              <a:t>릴레이션의</a:t>
            </a:r>
            <a:r>
              <a:rPr lang="ko-KR" altLang="en-US" dirty="0" smtClean="0"/>
              <a:t> 키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261938" y="1244600"/>
            <a:ext cx="8389937" cy="134302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144000" tIns="144000" rIns="144000" bIns="144000" anchor="ctr"/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50000"/>
              </a:spcBef>
            </a:pPr>
            <a:r>
              <a:rPr lang="ko-KR" altLang="en-US" sz="2600" b="1" dirty="0" smtClean="0">
                <a:latin typeface="맑은 고딕" pitchFamily="50" charset="-127"/>
                <a:ea typeface="맑은 고딕" pitchFamily="50" charset="-127"/>
              </a:rPr>
              <a:t>학생 </a:t>
            </a:r>
            <a:r>
              <a:rPr lang="ko-KR" altLang="en-US" sz="2600" b="1" dirty="0" err="1">
                <a:latin typeface="맑은 고딕" pitchFamily="50" charset="-127"/>
                <a:ea typeface="맑은 고딕" pitchFamily="50" charset="-127"/>
              </a:rPr>
              <a:t>릴레이션에서</a:t>
            </a:r>
            <a:r>
              <a:rPr lang="ko-KR" altLang="en-US" sz="2600" b="1" dirty="0">
                <a:latin typeface="맑은 고딕" pitchFamily="50" charset="-127"/>
                <a:ea typeface="맑은 고딕" pitchFamily="50" charset="-127"/>
              </a:rPr>
              <a:t> 이름이 후보 키가 될 수 있는가</a:t>
            </a:r>
            <a:r>
              <a:rPr lang="en-US" altLang="ko-KR" sz="2600" b="1" dirty="0">
                <a:latin typeface="맑은 고딕" pitchFamily="50" charset="-127"/>
                <a:ea typeface="맑은 고딕" pitchFamily="50" charset="-127"/>
              </a:rPr>
              <a:t>?</a:t>
            </a:r>
          </a:p>
          <a:p>
            <a:pPr algn="l" eaLnBrk="1" hangingPunct="1">
              <a:lnSpc>
                <a:spcPct val="130000"/>
              </a:lnSpc>
              <a:spcBef>
                <a:spcPct val="50000"/>
              </a:spcBef>
            </a:pPr>
            <a:r>
              <a:rPr lang="ko-KR" altLang="en-US" sz="2600" b="1" dirty="0" smtClean="0">
                <a:latin typeface="맑은 고딕" pitchFamily="50" charset="-127"/>
                <a:ea typeface="맑은 고딕" pitchFamily="50" charset="-127"/>
              </a:rPr>
              <a:t>학생 </a:t>
            </a:r>
            <a:r>
              <a:rPr lang="ko-KR" altLang="en-US" sz="2600" b="1" dirty="0" err="1">
                <a:latin typeface="맑은 고딕" pitchFamily="50" charset="-127"/>
                <a:ea typeface="맑은 고딕" pitchFamily="50" charset="-127"/>
              </a:rPr>
              <a:t>릴레이션에서</a:t>
            </a:r>
            <a:r>
              <a:rPr lang="ko-KR" altLang="en-US" sz="26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2600" b="1" dirty="0" err="1">
                <a:latin typeface="맑은 고딕" pitchFamily="50" charset="-127"/>
                <a:ea typeface="맑은 고딕" pitchFamily="50" charset="-127"/>
              </a:rPr>
              <a:t>이메일이</a:t>
            </a:r>
            <a:r>
              <a:rPr lang="ko-KR" altLang="en-US" sz="2600" b="1" dirty="0">
                <a:latin typeface="맑은 고딕" pitchFamily="50" charset="-127"/>
                <a:ea typeface="맑은 고딕" pitchFamily="50" charset="-127"/>
              </a:rPr>
              <a:t> 후보 키가 될 수 있는가</a:t>
            </a:r>
            <a:r>
              <a:rPr lang="en-US" altLang="ko-KR" sz="2600" b="1" dirty="0">
                <a:latin typeface="맑은 고딕" pitchFamily="50" charset="-127"/>
                <a:ea typeface="맑은 고딕" pitchFamily="50" charset="-127"/>
              </a:rPr>
              <a:t>?</a:t>
            </a:r>
          </a:p>
        </p:txBody>
      </p:sp>
      <p:sp>
        <p:nvSpPr>
          <p:cNvPr id="7" name="Text Box 37"/>
          <p:cNvSpPr txBox="1">
            <a:spLocks noChangeArrowheads="1"/>
          </p:cNvSpPr>
          <p:nvPr/>
        </p:nvSpPr>
        <p:spPr bwMode="auto">
          <a:xfrm>
            <a:off x="409515" y="2927350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pPr algn="l" eaLnBrk="1" latinLnBrk="1" hangingPunct="1"/>
            <a:r>
              <a:rPr lang="ko-KR" altLang="en-US" sz="2400" dirty="0" smtClean="0">
                <a:latin typeface="MS PGothic" pitchFamily="34" charset="-128"/>
              </a:rPr>
              <a:t>학생</a:t>
            </a:r>
            <a:endParaRPr lang="ko-KR" altLang="en-US" sz="2400" dirty="0">
              <a:latin typeface="MS PGothic" pitchFamily="34" charset="-128"/>
            </a:endParaRPr>
          </a:p>
        </p:txBody>
      </p:sp>
      <p:graphicFrame>
        <p:nvGraphicFramePr>
          <p:cNvPr id="8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77165837"/>
              </p:ext>
            </p:extLst>
          </p:nvPr>
        </p:nvGraphicFramePr>
        <p:xfrm>
          <a:off x="521550" y="3474005"/>
          <a:ext cx="8370930" cy="1828800"/>
        </p:xfrm>
        <a:graphic>
          <a:graphicData uri="http://schemas.openxmlformats.org/drawingml/2006/table">
            <a:tbl>
              <a:tblPr/>
              <a:tblGrid>
                <a:gridCol w="1915694"/>
                <a:gridCol w="1369230"/>
                <a:gridCol w="5086006"/>
              </a:tblGrid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학번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이름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학점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11002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이홍근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sea@hanmail.net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24036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김순미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smkim@iweb.cwunet.ac.kr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13427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박상웅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blue@hanmir.com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907780671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>
                <a:solidFill>
                  <a:srgbClr val="FF0000"/>
                </a:solidFill>
              </a:rPr>
              <a:t>기본키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en-US" altLang="ko-KR" dirty="0" err="1" smtClean="0">
                <a:solidFill>
                  <a:srgbClr val="FF0000"/>
                </a:solidFill>
              </a:rPr>
              <a:t>PK:Primary</a:t>
            </a:r>
            <a:r>
              <a:rPr lang="en-US" altLang="ko-KR" dirty="0" smtClean="0">
                <a:solidFill>
                  <a:srgbClr val="FF0000"/>
                </a:solidFill>
              </a:rPr>
              <a:t> Key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ko-KR" altLang="en-US" dirty="0" smtClean="0"/>
              <a:t>한 </a:t>
            </a:r>
            <a:r>
              <a:rPr lang="ko-KR" altLang="en-US" dirty="0" err="1" smtClean="0"/>
              <a:t>릴레이션에</a:t>
            </a:r>
            <a:r>
              <a:rPr lang="ko-KR" altLang="en-US" dirty="0" smtClean="0"/>
              <a:t> 후보 키가 두 개 이상 있을 </a:t>
            </a:r>
            <a:r>
              <a:rPr lang="ko-KR" altLang="en-US" dirty="0" err="1" smtClean="0"/>
              <a:t>경우이들</a:t>
            </a:r>
            <a:r>
              <a:rPr lang="ko-KR" altLang="en-US" dirty="0" smtClean="0"/>
              <a:t> 중 하나를 기본 키로 선정</a:t>
            </a:r>
          </a:p>
          <a:p>
            <a:pPr lvl="1" eaLnBrk="1" hangingPunct="1"/>
            <a:r>
              <a:rPr lang="ko-KR" altLang="en-US" dirty="0" smtClean="0"/>
              <a:t>예</a:t>
            </a:r>
            <a:r>
              <a:rPr lang="en-US" altLang="ko-KR" dirty="0" smtClean="0"/>
              <a:t>: (</a:t>
            </a:r>
            <a:r>
              <a:rPr lang="ko-KR" altLang="en-US" dirty="0" smtClean="0"/>
              <a:t>카드번호</a:t>
            </a:r>
            <a:r>
              <a:rPr lang="en-US" altLang="ko-KR" dirty="0" smtClean="0"/>
              <a:t>,</a:t>
            </a:r>
            <a:r>
              <a:rPr lang="ko-KR" altLang="en-US" dirty="0" smtClean="0"/>
              <a:t> 주민등록번호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:</a:t>
            </a:r>
            <a:r>
              <a:rPr lang="ko-KR" altLang="en-US" dirty="0" smtClean="0"/>
              <a:t> 후보 키</a:t>
            </a:r>
            <a:endParaRPr lang="en-US" altLang="ko-KR" dirty="0" smtClean="0"/>
          </a:p>
          <a:p>
            <a:pPr marL="457200" lvl="1" indent="0" eaLnBrk="1" hangingPunct="1">
              <a:buNone/>
            </a:pPr>
            <a:r>
              <a:rPr lang="ko-KR" altLang="en-US" dirty="0" smtClean="0"/>
              <a:t>        이 중에서 신용카드 번호를 기본 키로 선정</a:t>
            </a:r>
            <a:endParaRPr lang="en-US" altLang="ko-KR" dirty="0" smtClean="0"/>
          </a:p>
          <a:p>
            <a:pPr marL="457200" lvl="1" indent="0" eaLnBrk="1" hangingPunct="1">
              <a:buNone/>
            </a:pPr>
            <a:endParaRPr lang="ko-KR" altLang="en-US" dirty="0" smtClean="0"/>
          </a:p>
          <a:p>
            <a:pPr lvl="1" eaLnBrk="1" hangingPunct="1"/>
            <a:r>
              <a:rPr lang="ko-KR" altLang="en-US" dirty="0" smtClean="0"/>
              <a:t>기본 키가 없는 경우에는 인위적인 키 생성</a:t>
            </a:r>
            <a:endParaRPr lang="en-US" altLang="ko-KR" dirty="0" smtClean="0"/>
          </a:p>
          <a:p>
            <a:pPr lvl="1" eaLnBrk="1" hangingPunct="1"/>
            <a:r>
              <a:rPr lang="ko-KR" altLang="en-US" dirty="0" smtClean="0"/>
              <a:t>예</a:t>
            </a:r>
            <a:r>
              <a:rPr lang="en-US" altLang="ko-KR" dirty="0" smtClean="0"/>
              <a:t>: Sequence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자동증가번호</a:t>
            </a:r>
            <a:r>
              <a:rPr lang="en-US" altLang="ko-KR" dirty="0" smtClean="0"/>
              <a:t>)</a:t>
            </a:r>
            <a:endParaRPr lang="ko-KR" altLang="en-US" dirty="0" smtClean="0"/>
          </a:p>
        </p:txBody>
      </p:sp>
      <p:sp>
        <p:nvSpPr>
          <p:cNvPr id="30724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err="1" smtClean="0"/>
              <a:t>릴레이션의</a:t>
            </a:r>
            <a:r>
              <a:rPr lang="ko-KR" altLang="en-US" dirty="0" smtClean="0"/>
              <a:t> 키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199" y="909761"/>
            <a:ext cx="8480285" cy="5361459"/>
          </a:xfrm>
        </p:spPr>
        <p:txBody>
          <a:bodyPr>
            <a:normAutofit lnSpcReduction="10000"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대체키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en-US" altLang="ko-KR" dirty="0" err="1" smtClean="0">
                <a:solidFill>
                  <a:srgbClr val="FF0000"/>
                </a:solidFill>
              </a:rPr>
              <a:t>AK:Alternate</a:t>
            </a:r>
            <a:r>
              <a:rPr lang="en-US" altLang="ko-KR" dirty="0" smtClean="0">
                <a:solidFill>
                  <a:srgbClr val="FF0000"/>
                </a:solidFill>
              </a:rPr>
              <a:t> Key)</a:t>
            </a:r>
            <a:endParaRPr lang="ko-KR" altLang="en-US" dirty="0" smtClean="0">
              <a:solidFill>
                <a:srgbClr val="FF0000"/>
              </a:solidFill>
            </a:endParaRPr>
          </a:p>
          <a:p>
            <a:pPr lvl="1"/>
            <a:r>
              <a:rPr lang="ko-KR" altLang="en-US" dirty="0"/>
              <a:t>기본 키가 아닌 후보 키</a:t>
            </a:r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: (</a:t>
            </a:r>
            <a:r>
              <a:rPr lang="ko-KR" altLang="en-US" dirty="0"/>
              <a:t>카드번호</a:t>
            </a:r>
            <a:r>
              <a:rPr lang="en-US" altLang="ko-KR" dirty="0"/>
              <a:t>,</a:t>
            </a:r>
            <a:r>
              <a:rPr lang="ko-KR" altLang="en-US" dirty="0"/>
              <a:t> 주민등록번호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후보 키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        이 중에서 신용카드 번호를 기본 키로 선정 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     </a:t>
            </a:r>
            <a:r>
              <a:rPr lang="ko-KR" altLang="en-US" dirty="0"/>
              <a:t>주민등록번호는 대체키</a:t>
            </a:r>
            <a:endParaRPr lang="en-US" altLang="ko-KR" dirty="0"/>
          </a:p>
          <a:p>
            <a:pPr lvl="1" eaLnBrk="1" hangingPunct="1"/>
            <a:endParaRPr lang="ko-KR" altLang="en-US" dirty="0" smtClean="0"/>
          </a:p>
          <a:p>
            <a:r>
              <a:rPr lang="ko-KR" altLang="en-US" dirty="0">
                <a:solidFill>
                  <a:srgbClr val="FF0000"/>
                </a:solidFill>
              </a:rPr>
              <a:t>외래 키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en-US" altLang="ko-KR" dirty="0" err="1" smtClean="0">
                <a:solidFill>
                  <a:srgbClr val="FF0000"/>
                </a:solidFill>
              </a:rPr>
              <a:t>FK:Foreign</a:t>
            </a:r>
            <a:r>
              <a:rPr lang="en-US" altLang="ko-KR" dirty="0" smtClean="0">
                <a:solidFill>
                  <a:srgbClr val="FF0000"/>
                </a:solidFill>
              </a:rPr>
              <a:t> Key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ko-KR" altLang="en-US" dirty="0" smtClean="0"/>
              <a:t>어떤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기본 키를 참조하는 </a:t>
            </a:r>
            <a:r>
              <a:rPr lang="ko-KR" altLang="en-US" dirty="0" err="1" smtClean="0"/>
              <a:t>애트리뷰트</a:t>
            </a:r>
            <a:endParaRPr lang="ko-KR" altLang="en-US" dirty="0" smtClean="0"/>
          </a:p>
          <a:p>
            <a:pPr lvl="1" eaLnBrk="1" hangingPunct="1"/>
            <a:r>
              <a:rPr lang="ko-KR" altLang="en-US" dirty="0" smtClean="0"/>
              <a:t>관계 데이터베이스에서 </a:t>
            </a:r>
            <a:r>
              <a:rPr lang="ko-KR" altLang="en-US" dirty="0" err="1" smtClean="0"/>
              <a:t>릴레이션들</a:t>
            </a:r>
            <a:r>
              <a:rPr lang="ko-KR" altLang="en-US" dirty="0" smtClean="0"/>
              <a:t> 간의 관계를 나타내기 위해서 사용 </a:t>
            </a:r>
            <a:r>
              <a:rPr lang="en-US" altLang="ko-KR" dirty="0" smtClean="0"/>
              <a:t>(PK-FK)</a:t>
            </a:r>
            <a:r>
              <a:rPr lang="ko-KR" altLang="en-US" dirty="0" smtClean="0"/>
              <a:t> </a:t>
            </a:r>
          </a:p>
        </p:txBody>
      </p:sp>
      <p:sp>
        <p:nvSpPr>
          <p:cNvPr id="32772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err="1" smtClean="0"/>
              <a:t>릴레이션의</a:t>
            </a:r>
            <a:r>
              <a:rPr lang="ko-KR" altLang="en-US" dirty="0" smtClean="0"/>
              <a:t> 키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err="1" smtClean="0"/>
              <a:t>릴레이션의</a:t>
            </a:r>
            <a:r>
              <a:rPr lang="ko-KR" altLang="en-US" dirty="0" smtClean="0"/>
              <a:t> 키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971600" y="953725"/>
            <a:ext cx="6762750" cy="2238375"/>
            <a:chOff x="696" y="1263"/>
            <a:chExt cx="4260" cy="1410"/>
          </a:xfrm>
        </p:grpSpPr>
        <p:sp>
          <p:nvSpPr>
            <p:cNvPr id="6" name="Oval 8"/>
            <p:cNvSpPr>
              <a:spLocks noChangeArrowheads="1"/>
            </p:cNvSpPr>
            <p:nvPr/>
          </p:nvSpPr>
          <p:spPr bwMode="auto">
            <a:xfrm>
              <a:off x="696" y="1263"/>
              <a:ext cx="4260" cy="1410"/>
            </a:xfrm>
            <a:prstGeom prst="ellipse">
              <a:avLst/>
            </a:prstGeom>
            <a:solidFill>
              <a:schemeClr val="accent1"/>
            </a:solidFill>
            <a:ln w="22225" algn="ctr">
              <a:solidFill>
                <a:schemeClr val="accent2"/>
              </a:solidFill>
              <a:round/>
              <a:headEnd/>
              <a:tailEnd/>
            </a:ln>
          </p:spPr>
          <p:txBody>
            <a:bodyPr wrap="none" lIns="144000" tIns="144000" rIns="144000" bIns="144000" anchor="ctr"/>
            <a:lstStyle/>
            <a:p>
              <a:pPr algn="l"/>
              <a:r>
                <a:rPr lang="en-US" altLang="ko-KR" dirty="0">
                  <a:latin typeface="맑은 고딕" pitchFamily="50" charset="-127"/>
                  <a:ea typeface="맑은 고딕" pitchFamily="50" charset="-127"/>
                </a:rPr>
                <a:t>                                                                </a:t>
              </a:r>
              <a:r>
                <a:rPr lang="ko-KR" altLang="en-US" sz="2000" b="1" dirty="0" err="1">
                  <a:latin typeface="맑은 고딕" pitchFamily="50" charset="-127"/>
                  <a:ea typeface="맑은 고딕" pitchFamily="50" charset="-127"/>
                </a:rPr>
                <a:t>슈퍼키</a:t>
              </a:r>
              <a:endParaRPr lang="ko-KR" altLang="en-US" sz="2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852" y="1428"/>
              <a:ext cx="3234" cy="109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2225" algn="ctr">
              <a:solidFill>
                <a:schemeClr val="accent2"/>
              </a:solidFill>
              <a:round/>
              <a:headEnd/>
              <a:tailEnd/>
            </a:ln>
          </p:spPr>
          <p:txBody>
            <a:bodyPr wrap="none" lIns="144000" tIns="144000" rIns="144000" bIns="144000" anchor="ctr"/>
            <a:lstStyle/>
            <a:p>
              <a:pPr algn="r"/>
              <a:r>
                <a:rPr lang="ko-KR" altLang="en-US" sz="2000" b="1" dirty="0">
                  <a:latin typeface="맑은 고딕" pitchFamily="50" charset="-127"/>
                  <a:ea typeface="맑은 고딕" pitchFamily="50" charset="-127"/>
                </a:rPr>
                <a:t>대체키</a:t>
              </a:r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948" y="1650"/>
              <a:ext cx="2016" cy="654"/>
            </a:xfrm>
            <a:prstGeom prst="ellipse">
              <a:avLst/>
            </a:prstGeom>
            <a:solidFill>
              <a:srgbClr val="66CCFF"/>
            </a:solidFill>
            <a:ln w="22225" algn="ctr">
              <a:solidFill>
                <a:schemeClr val="accent2"/>
              </a:solidFill>
              <a:round/>
              <a:headEnd/>
              <a:tailEnd/>
            </a:ln>
          </p:spPr>
          <p:txBody>
            <a:bodyPr wrap="none" lIns="144000" tIns="144000" rIns="144000" bIns="144000" anchor="ctr"/>
            <a:lstStyle/>
            <a:p>
              <a:pPr algn="r"/>
              <a:r>
                <a:rPr lang="ko-KR" altLang="en-US" sz="2000" b="1" dirty="0" err="1">
                  <a:latin typeface="맑은 고딕" pitchFamily="50" charset="-127"/>
                  <a:ea typeface="맑은 고딕" pitchFamily="50" charset="-127"/>
                </a:rPr>
                <a:t>후보키</a:t>
              </a:r>
              <a:endParaRPr lang="ko-KR" altLang="en-US" sz="2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1080" y="1725"/>
              <a:ext cx="965" cy="530"/>
            </a:xfrm>
            <a:prstGeom prst="ellipse">
              <a:avLst/>
            </a:prstGeom>
            <a:solidFill>
              <a:schemeClr val="bg1"/>
            </a:solidFill>
            <a:ln w="22225" algn="ctr">
              <a:solidFill>
                <a:schemeClr val="accent2"/>
              </a:solidFill>
              <a:round/>
              <a:headEnd/>
              <a:tailEnd/>
            </a:ln>
          </p:spPr>
          <p:txBody>
            <a:bodyPr lIns="144000" tIns="144000" rIns="144000" bIns="144000" anchor="ctr">
              <a:spAutoFit/>
            </a:bodyPr>
            <a:lstStyle/>
            <a:p>
              <a:r>
                <a:rPr lang="ko-KR" altLang="en-US" sz="2000" b="1" dirty="0" err="1">
                  <a:latin typeface="맑은 고딕" pitchFamily="50" charset="-127"/>
                  <a:ea typeface="맑은 고딕" pitchFamily="50" charset="-127"/>
                </a:rPr>
                <a:t>기본키</a:t>
              </a:r>
              <a:endParaRPr lang="ko-KR" altLang="en-US" sz="20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3940803" y="3144952"/>
            <a:ext cx="50658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/>
              <a:t>(</a:t>
            </a:r>
            <a:r>
              <a:rPr lang="ko-KR" altLang="en-US" sz="2800" b="1" u="sng" dirty="0"/>
              <a:t>신용카드번호</a:t>
            </a:r>
            <a:r>
              <a:rPr lang="en-US" altLang="ko-KR" sz="2800" b="1" u="sng" dirty="0" smtClean="0"/>
              <a:t>,</a:t>
            </a:r>
            <a:r>
              <a:rPr lang="ko-KR" altLang="en-US" sz="2800" b="1" u="sng" dirty="0" smtClean="0"/>
              <a:t>주민번호</a:t>
            </a:r>
            <a:r>
              <a:rPr lang="en-US" altLang="ko-KR" sz="2800" b="1" u="sng" dirty="0" smtClean="0"/>
              <a:t>,</a:t>
            </a:r>
            <a:r>
              <a:rPr lang="ko-KR" altLang="en-US" sz="2800" b="1" u="sng" dirty="0" smtClean="0"/>
              <a:t>이름</a:t>
            </a:r>
            <a:r>
              <a:rPr lang="en-US" altLang="ko-KR" sz="2800" b="1" dirty="0" smtClean="0"/>
              <a:t>) </a:t>
            </a:r>
            <a:endParaRPr lang="ko-KR" altLang="en-US" sz="2800" b="1" dirty="0"/>
          </a:p>
        </p:txBody>
      </p:sp>
      <p:sp>
        <p:nvSpPr>
          <p:cNvPr id="11" name="직사각형 10"/>
          <p:cNvSpPr/>
          <p:nvPr/>
        </p:nvSpPr>
        <p:spPr>
          <a:xfrm>
            <a:off x="296525" y="5651085"/>
            <a:ext cx="28167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/>
              <a:t>(</a:t>
            </a:r>
            <a:r>
              <a:rPr lang="ko-KR" altLang="en-US" sz="2800" b="1" u="sng" dirty="0" smtClean="0"/>
              <a:t>신용카드번호</a:t>
            </a:r>
            <a:r>
              <a:rPr lang="en-US" altLang="ko-KR" sz="2800" b="1" dirty="0" smtClean="0"/>
              <a:t>) </a:t>
            </a:r>
            <a:endParaRPr lang="ko-KR" altLang="en-US" sz="2800" b="1" dirty="0"/>
          </a:p>
        </p:txBody>
      </p:sp>
      <p:sp>
        <p:nvSpPr>
          <p:cNvPr id="12" name="직사각형 11"/>
          <p:cNvSpPr/>
          <p:nvPr/>
        </p:nvSpPr>
        <p:spPr>
          <a:xfrm>
            <a:off x="2716642" y="3994320"/>
            <a:ext cx="20040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 smtClean="0"/>
              <a:t>(</a:t>
            </a:r>
            <a:r>
              <a:rPr lang="ko-KR" altLang="en-US" sz="2800" b="1" u="sng" dirty="0" smtClean="0"/>
              <a:t>주</a:t>
            </a:r>
            <a:r>
              <a:rPr lang="ko-KR" altLang="en-US" sz="2800" b="1" u="sng" dirty="0"/>
              <a:t>민</a:t>
            </a:r>
            <a:r>
              <a:rPr lang="ko-KR" altLang="en-US" sz="2800" b="1" u="sng" dirty="0" smtClean="0"/>
              <a:t>번호</a:t>
            </a:r>
            <a:r>
              <a:rPr lang="en-US" altLang="ko-KR" sz="2800" b="1" dirty="0" smtClean="0"/>
              <a:t>) </a:t>
            </a:r>
            <a:endParaRPr lang="ko-KR" altLang="en-US" sz="2800" b="1" dirty="0"/>
          </a:p>
        </p:txBody>
      </p:sp>
      <p:sp>
        <p:nvSpPr>
          <p:cNvPr id="13" name="직사각형 12"/>
          <p:cNvSpPr/>
          <p:nvPr/>
        </p:nvSpPr>
        <p:spPr>
          <a:xfrm>
            <a:off x="1228825" y="4779150"/>
            <a:ext cx="42530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/>
              <a:t>(</a:t>
            </a:r>
            <a:r>
              <a:rPr lang="ko-KR" altLang="en-US" sz="2800" b="1" u="sng" dirty="0" smtClean="0"/>
              <a:t>신용카드번호</a:t>
            </a:r>
            <a:r>
              <a:rPr lang="en-US" altLang="ko-KR" sz="2800" b="1" u="sng" dirty="0" smtClean="0"/>
              <a:t>,</a:t>
            </a:r>
            <a:r>
              <a:rPr lang="ko-KR" altLang="en-US" sz="2800" b="1" u="sng" dirty="0" smtClean="0"/>
              <a:t>주민번호</a:t>
            </a:r>
            <a:r>
              <a:rPr lang="en-US" altLang="ko-KR" sz="2800" b="1" dirty="0" smtClean="0"/>
              <a:t>) </a:t>
            </a:r>
            <a:endParaRPr lang="ko-KR" altLang="en-US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031940" y="3549997"/>
            <a:ext cx="440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행을 고유하게 하는 </a:t>
            </a:r>
            <a:r>
              <a:rPr lang="ko-KR" altLang="en-US" dirty="0" err="1" smtClean="0"/>
              <a:t>열들의</a:t>
            </a:r>
            <a:r>
              <a:rPr lang="ko-KR" altLang="en-US" dirty="0" smtClean="0"/>
              <a:t> 집합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371650" y="5158432"/>
            <a:ext cx="440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행을 고유하게 하는 최소 </a:t>
            </a:r>
            <a:r>
              <a:rPr lang="ko-KR" altLang="en-US" dirty="0" err="1" smtClean="0"/>
              <a:t>열들의</a:t>
            </a:r>
            <a:r>
              <a:rPr lang="ko-KR" altLang="en-US" dirty="0" smtClean="0"/>
              <a:t> 집합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97320" y="6039290"/>
            <a:ext cx="4404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후보키</a:t>
            </a:r>
            <a:r>
              <a:rPr lang="ko-KR" altLang="en-US" dirty="0" smtClean="0"/>
              <a:t> 중 하나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2290825" y="4400036"/>
            <a:ext cx="3050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ko-KR" altLang="en-US" dirty="0"/>
              <a:t>기본 키가 아닌 후보 키</a:t>
            </a:r>
          </a:p>
        </p:txBody>
      </p:sp>
      <p:sp>
        <p:nvSpPr>
          <p:cNvPr id="14" name="자유형 13"/>
          <p:cNvSpPr/>
          <p:nvPr/>
        </p:nvSpPr>
        <p:spPr>
          <a:xfrm>
            <a:off x="1916705" y="4265950"/>
            <a:ext cx="857250" cy="591800"/>
          </a:xfrm>
          <a:custGeom>
            <a:avLst/>
            <a:gdLst>
              <a:gd name="connsiteX0" fmla="*/ 28575 w 857250"/>
              <a:gd name="connsiteY0" fmla="*/ 591800 h 591800"/>
              <a:gd name="connsiteX1" fmla="*/ 38100 w 857250"/>
              <a:gd name="connsiteY1" fmla="*/ 544175 h 591800"/>
              <a:gd name="connsiteX2" fmla="*/ 9525 w 857250"/>
              <a:gd name="connsiteY2" fmla="*/ 429875 h 591800"/>
              <a:gd name="connsiteX3" fmla="*/ 0 w 857250"/>
              <a:gd name="connsiteY3" fmla="*/ 391775 h 591800"/>
              <a:gd name="connsiteX4" fmla="*/ 19050 w 857250"/>
              <a:gd name="connsiteY4" fmla="*/ 258425 h 591800"/>
              <a:gd name="connsiteX5" fmla="*/ 76200 w 857250"/>
              <a:gd name="connsiteY5" fmla="*/ 191750 h 591800"/>
              <a:gd name="connsiteX6" fmla="*/ 104775 w 857250"/>
              <a:gd name="connsiteY6" fmla="*/ 172700 h 591800"/>
              <a:gd name="connsiteX7" fmla="*/ 190500 w 857250"/>
              <a:gd name="connsiteY7" fmla="*/ 106025 h 591800"/>
              <a:gd name="connsiteX8" fmla="*/ 219075 w 857250"/>
              <a:gd name="connsiteY8" fmla="*/ 86975 h 591800"/>
              <a:gd name="connsiteX9" fmla="*/ 257175 w 857250"/>
              <a:gd name="connsiteY9" fmla="*/ 77450 h 591800"/>
              <a:gd name="connsiteX10" fmla="*/ 295275 w 857250"/>
              <a:gd name="connsiteY10" fmla="*/ 58400 h 591800"/>
              <a:gd name="connsiteX11" fmla="*/ 409575 w 857250"/>
              <a:gd name="connsiteY11" fmla="*/ 20300 h 591800"/>
              <a:gd name="connsiteX12" fmla="*/ 485775 w 857250"/>
              <a:gd name="connsiteY12" fmla="*/ 1250 h 591800"/>
              <a:gd name="connsiteX13" fmla="*/ 857250 w 857250"/>
              <a:gd name="connsiteY13" fmla="*/ 1250 h 59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57250" h="591800">
                <a:moveTo>
                  <a:pt x="28575" y="591800"/>
                </a:moveTo>
                <a:cubicBezTo>
                  <a:pt x="31750" y="575925"/>
                  <a:pt x="38100" y="560364"/>
                  <a:pt x="38100" y="544175"/>
                </a:cubicBezTo>
                <a:cubicBezTo>
                  <a:pt x="38100" y="501907"/>
                  <a:pt x="21346" y="469279"/>
                  <a:pt x="9525" y="429875"/>
                </a:cubicBezTo>
                <a:cubicBezTo>
                  <a:pt x="5763" y="417336"/>
                  <a:pt x="3175" y="404475"/>
                  <a:pt x="0" y="391775"/>
                </a:cubicBezTo>
                <a:cubicBezTo>
                  <a:pt x="2434" y="365006"/>
                  <a:pt x="726" y="295074"/>
                  <a:pt x="19050" y="258425"/>
                </a:cubicBezTo>
                <a:cubicBezTo>
                  <a:pt x="31689" y="233147"/>
                  <a:pt x="55694" y="209326"/>
                  <a:pt x="76200" y="191750"/>
                </a:cubicBezTo>
                <a:cubicBezTo>
                  <a:pt x="84892" y="184300"/>
                  <a:pt x="95617" y="179569"/>
                  <a:pt x="104775" y="172700"/>
                </a:cubicBezTo>
                <a:cubicBezTo>
                  <a:pt x="133735" y="150980"/>
                  <a:pt x="160379" y="126105"/>
                  <a:pt x="190500" y="106025"/>
                </a:cubicBezTo>
                <a:cubicBezTo>
                  <a:pt x="200025" y="99675"/>
                  <a:pt x="208553" y="91484"/>
                  <a:pt x="219075" y="86975"/>
                </a:cubicBezTo>
                <a:cubicBezTo>
                  <a:pt x="231107" y="81818"/>
                  <a:pt x="244918" y="82047"/>
                  <a:pt x="257175" y="77450"/>
                </a:cubicBezTo>
                <a:cubicBezTo>
                  <a:pt x="270470" y="72464"/>
                  <a:pt x="281980" y="63386"/>
                  <a:pt x="295275" y="58400"/>
                </a:cubicBezTo>
                <a:cubicBezTo>
                  <a:pt x="332879" y="44299"/>
                  <a:pt x="371475" y="33000"/>
                  <a:pt x="409575" y="20300"/>
                </a:cubicBezTo>
                <a:cubicBezTo>
                  <a:pt x="433167" y="12436"/>
                  <a:pt x="461105" y="1811"/>
                  <a:pt x="485775" y="1250"/>
                </a:cubicBezTo>
                <a:cubicBezTo>
                  <a:pt x="609568" y="-1563"/>
                  <a:pt x="733425" y="1250"/>
                  <a:pt x="857250" y="1250"/>
                </a:cubicBezTo>
              </a:path>
            </a:pathLst>
          </a:cu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 16"/>
          <p:cNvSpPr/>
          <p:nvPr/>
        </p:nvSpPr>
        <p:spPr>
          <a:xfrm>
            <a:off x="669370" y="5179390"/>
            <a:ext cx="609600" cy="600075"/>
          </a:xfrm>
          <a:custGeom>
            <a:avLst/>
            <a:gdLst>
              <a:gd name="connsiteX0" fmla="*/ 609600 w 609600"/>
              <a:gd name="connsiteY0" fmla="*/ 0 h 600075"/>
              <a:gd name="connsiteX1" fmla="*/ 295275 w 609600"/>
              <a:gd name="connsiteY1" fmla="*/ 19050 h 600075"/>
              <a:gd name="connsiteX2" fmla="*/ 228600 w 609600"/>
              <a:gd name="connsiteY2" fmla="*/ 47625 h 600075"/>
              <a:gd name="connsiteX3" fmla="*/ 123825 w 609600"/>
              <a:gd name="connsiteY3" fmla="*/ 104775 h 600075"/>
              <a:gd name="connsiteX4" fmla="*/ 95250 w 609600"/>
              <a:gd name="connsiteY4" fmla="*/ 133350 h 600075"/>
              <a:gd name="connsiteX5" fmla="*/ 85725 w 609600"/>
              <a:gd name="connsiteY5" fmla="*/ 161925 h 600075"/>
              <a:gd name="connsiteX6" fmla="*/ 47625 w 609600"/>
              <a:gd name="connsiteY6" fmla="*/ 247650 h 600075"/>
              <a:gd name="connsiteX7" fmla="*/ 38100 w 609600"/>
              <a:gd name="connsiteY7" fmla="*/ 285750 h 600075"/>
              <a:gd name="connsiteX8" fmla="*/ 0 w 609600"/>
              <a:gd name="connsiteY8" fmla="*/ 400050 h 600075"/>
              <a:gd name="connsiteX9" fmla="*/ 0 w 609600"/>
              <a:gd name="connsiteY9" fmla="*/ 600075 h 60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" h="600075">
                <a:moveTo>
                  <a:pt x="609600" y="0"/>
                </a:moveTo>
                <a:cubicBezTo>
                  <a:pt x="504825" y="6350"/>
                  <a:pt x="399432" y="6030"/>
                  <a:pt x="295275" y="19050"/>
                </a:cubicBezTo>
                <a:cubicBezTo>
                  <a:pt x="271282" y="22049"/>
                  <a:pt x="250555" y="37492"/>
                  <a:pt x="228600" y="47625"/>
                </a:cubicBezTo>
                <a:cubicBezTo>
                  <a:pt x="204136" y="58916"/>
                  <a:pt x="146909" y="87462"/>
                  <a:pt x="123825" y="104775"/>
                </a:cubicBezTo>
                <a:cubicBezTo>
                  <a:pt x="113049" y="112857"/>
                  <a:pt x="104775" y="123825"/>
                  <a:pt x="95250" y="133350"/>
                </a:cubicBezTo>
                <a:cubicBezTo>
                  <a:pt x="92075" y="142875"/>
                  <a:pt x="89680" y="152697"/>
                  <a:pt x="85725" y="161925"/>
                </a:cubicBezTo>
                <a:cubicBezTo>
                  <a:pt x="60830" y="220013"/>
                  <a:pt x="69779" y="181187"/>
                  <a:pt x="47625" y="247650"/>
                </a:cubicBezTo>
                <a:cubicBezTo>
                  <a:pt x="43485" y="260069"/>
                  <a:pt x="42697" y="273493"/>
                  <a:pt x="38100" y="285750"/>
                </a:cubicBezTo>
                <a:cubicBezTo>
                  <a:pt x="19540" y="335243"/>
                  <a:pt x="0" y="332247"/>
                  <a:pt x="0" y="400050"/>
                </a:cubicBezTo>
                <a:lnTo>
                  <a:pt x="0" y="600075"/>
                </a:lnTo>
              </a:path>
            </a:pathLst>
          </a:cu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515569502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fld id="{744A4F47-5ACD-4765-A407-43DC749D0539}" type="slidenum">
              <a:rPr lang="en-US" altLang="ko-KR" sz="1400" smtClean="0">
                <a:latin typeface="Times New Roman" pitchFamily="18" charset="0"/>
              </a:rPr>
              <a:pPr/>
              <a:t>42</a:t>
            </a:fld>
            <a:endParaRPr lang="en-US" altLang="ko-KR" sz="1400" smtClean="0">
              <a:latin typeface="Times New Roman" pitchFamily="18" charset="0"/>
            </a:endParaRPr>
          </a:p>
        </p:txBody>
      </p:sp>
      <p:graphicFrame>
        <p:nvGraphicFramePr>
          <p:cNvPr id="242783" name="Group 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53063427"/>
              </p:ext>
            </p:extLst>
          </p:nvPr>
        </p:nvGraphicFramePr>
        <p:xfrm>
          <a:off x="325438" y="2350310"/>
          <a:ext cx="3751507" cy="2233614"/>
        </p:xfrm>
        <a:graphic>
          <a:graphicData uri="http://schemas.openxmlformats.org/drawingml/2006/table">
            <a:tbl>
              <a:tblPr/>
              <a:tblGrid>
                <a:gridCol w="1201195"/>
                <a:gridCol w="1502385"/>
                <a:gridCol w="1047927"/>
              </a:tblGrid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EMPNO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EMPNAME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DEPTNO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2106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김창섭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3426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박영권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3011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이수민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조민희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3427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최종철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850" name="Text Box 47"/>
          <p:cNvSpPr txBox="1">
            <a:spLocks noChangeArrowheads="1"/>
          </p:cNvSpPr>
          <p:nvPr/>
        </p:nvSpPr>
        <p:spPr bwMode="auto">
          <a:xfrm>
            <a:off x="325438" y="1765245"/>
            <a:ext cx="880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pPr algn="l" eaLnBrk="1" latinLnBrk="1" hangingPunct="1"/>
            <a:r>
              <a:rPr lang="en-US" altLang="ko-KR" sz="2800" b="1" dirty="0" smtClean="0">
                <a:latin typeface="MS PGothic" pitchFamily="34" charset="-128"/>
              </a:rPr>
              <a:t>EMP</a:t>
            </a:r>
            <a:endParaRPr lang="en-US" altLang="ko-KR" sz="2800" b="1" dirty="0">
              <a:latin typeface="MS PGothic" pitchFamily="34" charset="-128"/>
            </a:endParaRPr>
          </a:p>
        </p:txBody>
      </p:sp>
      <p:graphicFrame>
        <p:nvGraphicFramePr>
          <p:cNvPr id="242765" name="Group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51933086"/>
              </p:ext>
            </p:extLst>
          </p:nvPr>
        </p:nvGraphicFramePr>
        <p:xfrm>
          <a:off x="5567363" y="2434516"/>
          <a:ext cx="3509963" cy="1431926"/>
        </p:xfrm>
        <a:graphic>
          <a:graphicData uri="http://schemas.openxmlformats.org/drawingml/2006/table">
            <a:tbl>
              <a:tblPr/>
              <a:tblGrid>
                <a:gridCol w="1141413"/>
                <a:gridCol w="1366837"/>
                <a:gridCol w="1001713"/>
              </a:tblGrid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DEPTNO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DEPTNAME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FLOOR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영업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기획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개발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HY울릉도M" pitchFamily="18" charset="-127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873" name="Text Box 70"/>
          <p:cNvSpPr txBox="1">
            <a:spLocks noChangeArrowheads="1"/>
          </p:cNvSpPr>
          <p:nvPr/>
        </p:nvSpPr>
        <p:spPr bwMode="auto">
          <a:xfrm>
            <a:off x="7902370" y="1765245"/>
            <a:ext cx="10599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pPr algn="l" eaLnBrk="1" latinLnBrk="1" hangingPunct="1"/>
            <a:r>
              <a:rPr lang="en-US" altLang="ko-KR" sz="2800" b="1" dirty="0" smtClean="0">
                <a:latin typeface="MS PGothic" pitchFamily="34" charset="-128"/>
              </a:rPr>
              <a:t>DEPT</a:t>
            </a:r>
            <a:endParaRPr lang="en-US" altLang="ko-KR" sz="2800" b="1" dirty="0">
              <a:latin typeface="MS PGothic" pitchFamily="34" charset="-128"/>
            </a:endParaRPr>
          </a:p>
        </p:txBody>
      </p:sp>
      <p:sp>
        <p:nvSpPr>
          <p:cNvPr id="34874" name="Text Box 83"/>
          <p:cNvSpPr txBox="1">
            <a:spLocks noChangeArrowheads="1"/>
          </p:cNvSpPr>
          <p:nvPr/>
        </p:nvSpPr>
        <p:spPr bwMode="auto">
          <a:xfrm>
            <a:off x="533400" y="4950635"/>
            <a:ext cx="1149921" cy="50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r>
              <a:rPr lang="ko-KR" altLang="en-US" sz="2800"/>
              <a:t>기본키</a:t>
            </a:r>
          </a:p>
        </p:txBody>
      </p:sp>
      <p:sp>
        <p:nvSpPr>
          <p:cNvPr id="34875" name="Text Box 84"/>
          <p:cNvSpPr txBox="1">
            <a:spLocks noChangeArrowheads="1"/>
          </p:cNvSpPr>
          <p:nvPr/>
        </p:nvSpPr>
        <p:spPr bwMode="auto">
          <a:xfrm>
            <a:off x="2843213" y="4931585"/>
            <a:ext cx="1149921" cy="50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r>
              <a:rPr lang="ko-KR" altLang="en-US" sz="2800"/>
              <a:t>외래키</a:t>
            </a:r>
          </a:p>
        </p:txBody>
      </p:sp>
      <p:sp>
        <p:nvSpPr>
          <p:cNvPr id="34876" name="Text Box 85"/>
          <p:cNvSpPr txBox="1">
            <a:spLocks noChangeArrowheads="1"/>
          </p:cNvSpPr>
          <p:nvPr/>
        </p:nvSpPr>
        <p:spPr bwMode="auto">
          <a:xfrm>
            <a:off x="5583768" y="4155194"/>
            <a:ext cx="1149921" cy="50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r>
              <a:rPr lang="ko-KR" altLang="en-US" sz="2800" dirty="0" err="1"/>
              <a:t>기본키</a:t>
            </a:r>
            <a:endParaRPr lang="ko-KR" altLang="en-US" sz="2800" dirty="0"/>
          </a:p>
        </p:txBody>
      </p:sp>
      <p:sp>
        <p:nvSpPr>
          <p:cNvPr id="34877" name="Line 86"/>
          <p:cNvSpPr>
            <a:spLocks noChangeShapeType="1"/>
          </p:cNvSpPr>
          <p:nvPr/>
        </p:nvSpPr>
        <p:spPr bwMode="auto">
          <a:xfrm flipV="1">
            <a:off x="796925" y="4568047"/>
            <a:ext cx="0" cy="363538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44000" tIns="144000" rIns="144000" bIns="144000">
            <a:spAutoFit/>
          </a:bodyPr>
          <a:lstStyle/>
          <a:p>
            <a:endParaRPr lang="ko-KR" altLang="en-US"/>
          </a:p>
        </p:txBody>
      </p:sp>
      <p:sp>
        <p:nvSpPr>
          <p:cNvPr id="34878" name="Line 87"/>
          <p:cNvSpPr>
            <a:spLocks noChangeShapeType="1"/>
          </p:cNvSpPr>
          <p:nvPr/>
        </p:nvSpPr>
        <p:spPr bwMode="auto">
          <a:xfrm flipV="1">
            <a:off x="3186113" y="4577572"/>
            <a:ext cx="0" cy="363538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44000" tIns="144000" rIns="144000" bIns="144000">
            <a:spAutoFit/>
          </a:bodyPr>
          <a:lstStyle/>
          <a:p>
            <a:endParaRPr lang="ko-KR" altLang="en-US"/>
          </a:p>
        </p:txBody>
      </p:sp>
      <p:sp>
        <p:nvSpPr>
          <p:cNvPr id="34879" name="Line 88"/>
          <p:cNvSpPr>
            <a:spLocks noChangeShapeType="1"/>
          </p:cNvSpPr>
          <p:nvPr/>
        </p:nvSpPr>
        <p:spPr bwMode="auto">
          <a:xfrm flipV="1">
            <a:off x="6138863" y="3791656"/>
            <a:ext cx="0" cy="363538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144000" tIns="144000" rIns="144000" bIns="144000">
            <a:spAutoFit/>
          </a:bodyPr>
          <a:lstStyle/>
          <a:p>
            <a:endParaRPr lang="ko-KR" altLang="en-US"/>
          </a:p>
        </p:txBody>
      </p:sp>
      <p:cxnSp>
        <p:nvCxnSpPr>
          <p:cNvPr id="34884" name="AutoShape 100"/>
          <p:cNvCxnSpPr>
            <a:cxnSpLocks noChangeShapeType="1"/>
          </p:cNvCxnSpPr>
          <p:nvPr/>
        </p:nvCxnSpPr>
        <p:spPr bwMode="auto">
          <a:xfrm flipV="1">
            <a:off x="4049945" y="2933945"/>
            <a:ext cx="1660525" cy="769520"/>
          </a:xfrm>
          <a:prstGeom prst="straightConnector1">
            <a:avLst/>
          </a:prstGeom>
          <a:noFill/>
          <a:ln w="222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887" name="AutoShape 105"/>
          <p:cNvCxnSpPr>
            <a:cxnSpLocks noChangeShapeType="1"/>
          </p:cNvCxnSpPr>
          <p:nvPr/>
        </p:nvCxnSpPr>
        <p:spPr bwMode="auto">
          <a:xfrm rot="5400000" flipV="1">
            <a:off x="4819883" y="1007353"/>
            <a:ext cx="120650" cy="2698750"/>
          </a:xfrm>
          <a:prstGeom prst="bentConnector3">
            <a:avLst>
              <a:gd name="adj1" fmla="val -300005"/>
            </a:avLst>
          </a:prstGeom>
          <a:noFill/>
          <a:ln w="22225">
            <a:solidFill>
              <a:srgbClr val="0000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4888" name="Text Box 106"/>
          <p:cNvSpPr txBox="1">
            <a:spLocks noChangeArrowheads="1"/>
          </p:cNvSpPr>
          <p:nvPr/>
        </p:nvSpPr>
        <p:spPr bwMode="auto">
          <a:xfrm>
            <a:off x="4491037" y="1398052"/>
            <a:ext cx="893441" cy="56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r>
              <a:rPr lang="ko-KR" altLang="en-US" sz="3200" dirty="0"/>
              <a:t>참조</a:t>
            </a:r>
          </a:p>
        </p:txBody>
      </p:sp>
      <p:sp>
        <p:nvSpPr>
          <p:cNvPr id="34889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err="1" smtClean="0"/>
              <a:t>릴레이션의</a:t>
            </a:r>
            <a:r>
              <a:rPr lang="ko-KR" altLang="en-US" dirty="0" smtClean="0"/>
              <a:t> 키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fld id="{B137C993-B536-40AD-B3C1-22A8A6071954}" type="slidenum">
              <a:rPr lang="en-US" altLang="ko-KR" sz="1400" smtClean="0">
                <a:latin typeface="Times New Roman" pitchFamily="18" charset="0"/>
              </a:rPr>
              <a:pPr/>
              <a:t>43</a:t>
            </a:fld>
            <a:endParaRPr lang="en-US" altLang="ko-KR" sz="1400" smtClean="0">
              <a:latin typeface="Times New Roman" pitchFamily="18" charset="0"/>
            </a:endParaRPr>
          </a:p>
        </p:txBody>
      </p:sp>
      <p:sp>
        <p:nvSpPr>
          <p:cNvPr id="38915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ko-KR" dirty="0" smtClean="0"/>
              <a:t> </a:t>
            </a:r>
            <a:r>
              <a:rPr lang="ko-KR" altLang="en-US" dirty="0" smtClean="0"/>
              <a:t>데이터 </a:t>
            </a:r>
            <a:r>
              <a:rPr lang="ko-KR" altLang="en-US" dirty="0" err="1" smtClean="0"/>
              <a:t>무결성</a:t>
            </a:r>
            <a:r>
              <a:rPr lang="en-US" altLang="ko-KR" dirty="0" smtClean="0"/>
              <a:t>(data integrity)</a:t>
            </a:r>
          </a:p>
          <a:p>
            <a:pPr lvl="1" eaLnBrk="1" hangingPunct="1"/>
            <a:r>
              <a:rPr lang="ko-KR" altLang="en-US" dirty="0" smtClean="0"/>
              <a:t>데이터의 정확성 또는 유효성을 의미</a:t>
            </a:r>
          </a:p>
          <a:p>
            <a:pPr lvl="1" eaLnBrk="1" hangingPunct="1"/>
            <a:r>
              <a:rPr lang="ko-KR" altLang="en-US" dirty="0" smtClean="0"/>
              <a:t>일관된 데이터베이스 상태를 정의하는 규칙들</a:t>
            </a:r>
            <a:endParaRPr lang="en-US" altLang="ko-KR" dirty="0" smtClean="0"/>
          </a:p>
          <a:p>
            <a:pPr lvl="1" eaLnBrk="1" hangingPunct="1"/>
            <a:endParaRPr lang="ko-KR" altLang="en-US" dirty="0" smtClean="0"/>
          </a:p>
          <a:p>
            <a:r>
              <a:rPr lang="ko-KR" altLang="en-US" dirty="0" err="1" smtClean="0"/>
              <a:t>무결성</a:t>
            </a:r>
            <a:r>
              <a:rPr lang="ko-KR" altLang="en-US" dirty="0" smtClean="0"/>
              <a:t> 제약조건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데이터베이스 상태가 만족시켜야 하는 조건</a:t>
            </a:r>
            <a:endParaRPr lang="en-US" altLang="ko-KR" dirty="0" smtClean="0"/>
          </a:p>
          <a:p>
            <a:pPr lvl="1"/>
            <a:r>
              <a:rPr lang="ko-KR" altLang="en-US" dirty="0"/>
              <a:t>사</a:t>
            </a:r>
            <a:r>
              <a:rPr lang="ko-KR" altLang="en-US" dirty="0" smtClean="0"/>
              <a:t>용자에 의한 데이터베이스 변</a:t>
            </a:r>
            <a:r>
              <a:rPr lang="ko-KR" altLang="en-US" dirty="0"/>
              <a:t>경</a:t>
            </a:r>
            <a:r>
              <a:rPr lang="ko-KR" altLang="en-US" dirty="0" smtClean="0"/>
              <a:t>이 일관성을 깨지 않도록 보장하는 수단</a:t>
            </a:r>
            <a:r>
              <a:rPr lang="en-US" altLang="ko-KR" dirty="0" smtClean="0"/>
              <a:t> </a:t>
            </a:r>
          </a:p>
          <a:p>
            <a:pPr lvl="1" eaLnBrk="1" hangingPunct="1"/>
            <a:r>
              <a:rPr lang="ko-KR" altLang="en-US" dirty="0" smtClean="0"/>
              <a:t>데이터베이스 변경 시 </a:t>
            </a:r>
            <a:r>
              <a:rPr lang="en-US" altLang="ko-KR" dirty="0" smtClean="0"/>
              <a:t>DBMS</a:t>
            </a:r>
            <a:r>
              <a:rPr lang="ko-KR" altLang="en-US" dirty="0" smtClean="0"/>
              <a:t>가 자동으로 일관성 조건을 검사</a:t>
            </a:r>
          </a:p>
          <a:p>
            <a:pPr lvl="1" eaLnBrk="1" hangingPunct="1"/>
            <a:endParaRPr lang="en-US" altLang="ko-KR" dirty="0" smtClean="0"/>
          </a:p>
        </p:txBody>
      </p:sp>
      <p:sp>
        <p:nvSpPr>
          <p:cNvPr id="38916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err="1" smtClean="0"/>
              <a:t>무결성</a:t>
            </a:r>
            <a:r>
              <a:rPr lang="ko-KR" altLang="en-US" dirty="0" smtClean="0"/>
              <a:t> 제약조건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fld id="{BD6FFFAC-A694-426C-8C2A-7BF068CA445F}" type="slidenum">
              <a:rPr lang="en-US" altLang="ko-KR" sz="1400" smtClean="0">
                <a:latin typeface="Times New Roman" pitchFamily="18" charset="0"/>
              </a:rPr>
              <a:pPr/>
              <a:t>44</a:t>
            </a:fld>
            <a:endParaRPr lang="en-US" altLang="ko-KR" sz="1400" smtClean="0">
              <a:latin typeface="Times New Roman" pitchFamily="18" charset="0"/>
            </a:endParaRPr>
          </a:p>
        </p:txBody>
      </p:sp>
      <p:sp>
        <p:nvSpPr>
          <p:cNvPr id="39939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en-US" altLang="ko-KR" dirty="0" smtClean="0"/>
              <a:t> </a:t>
            </a:r>
            <a:r>
              <a:rPr lang="ko-KR" altLang="en-US" dirty="0" smtClean="0"/>
              <a:t>도메인 제약조건</a:t>
            </a:r>
            <a:r>
              <a:rPr lang="en-US" altLang="ko-KR" dirty="0" smtClean="0"/>
              <a:t>(domain constraint)</a:t>
            </a:r>
          </a:p>
          <a:p>
            <a:pPr lvl="1" eaLnBrk="1" hangingPunct="1"/>
            <a:r>
              <a:rPr lang="ko-KR" altLang="en-US" dirty="0" smtClean="0"/>
              <a:t>각 </a:t>
            </a:r>
            <a:r>
              <a:rPr lang="ko-KR" altLang="en-US" dirty="0" err="1" smtClean="0"/>
              <a:t>애트리뷰트</a:t>
            </a:r>
            <a:r>
              <a:rPr lang="ko-KR" altLang="en-US" dirty="0" smtClean="0"/>
              <a:t> 값이 반드시 </a:t>
            </a:r>
            <a:r>
              <a:rPr lang="ko-KR" altLang="en-US" dirty="0" err="1" smtClean="0"/>
              <a:t>원자값이어야</a:t>
            </a:r>
            <a:r>
              <a:rPr lang="ko-KR" altLang="en-US" dirty="0" smtClean="0"/>
              <a:t> 함</a:t>
            </a:r>
          </a:p>
          <a:p>
            <a:pPr lvl="1" eaLnBrk="1" hangingPunct="1"/>
            <a:r>
              <a:rPr lang="ko-KR" altLang="en-US" dirty="0" err="1" smtClean="0"/>
              <a:t>애트리뷰트</a:t>
            </a:r>
            <a:r>
              <a:rPr lang="ko-KR" altLang="en-US" dirty="0" smtClean="0"/>
              <a:t> 값의 디폴트 값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가능한 값들의 범위 등을 지정할 수 있음</a:t>
            </a:r>
          </a:p>
          <a:p>
            <a:pPr lvl="1" eaLnBrk="1" hangingPunct="1"/>
            <a:r>
              <a:rPr lang="en-US" altLang="ko-KR" dirty="0" smtClean="0"/>
              <a:t>CHECK </a:t>
            </a:r>
            <a:r>
              <a:rPr lang="ko-KR" altLang="en-US" dirty="0" smtClean="0"/>
              <a:t>제약 조건을 통해 값들의 범위를 제한할 수 있음</a:t>
            </a:r>
          </a:p>
          <a:p>
            <a:pPr marL="457200" lvl="1" indent="0" eaLnBrk="1" hangingPunct="1">
              <a:buNone/>
            </a:pPr>
            <a:endParaRPr lang="ko-KR" altLang="en-US" dirty="0" smtClean="0"/>
          </a:p>
          <a:p>
            <a:pPr eaLnBrk="1" hangingPunct="1"/>
            <a:r>
              <a:rPr lang="ko-KR" altLang="en-US" dirty="0" smtClean="0"/>
              <a:t>키 제약조건</a:t>
            </a:r>
            <a:r>
              <a:rPr lang="en-US" altLang="ko-KR" dirty="0" smtClean="0"/>
              <a:t>(key constraint)</a:t>
            </a:r>
          </a:p>
          <a:p>
            <a:pPr lvl="1" eaLnBrk="1" hangingPunct="1"/>
            <a:r>
              <a:rPr lang="ko-KR" altLang="en-US" dirty="0" smtClean="0"/>
              <a:t>키 </a:t>
            </a:r>
            <a:r>
              <a:rPr lang="ko-KR" altLang="en-US" dirty="0" err="1" smtClean="0"/>
              <a:t>애트리뷰트에</a:t>
            </a:r>
            <a:r>
              <a:rPr lang="ko-KR" altLang="en-US" dirty="0" smtClean="0"/>
              <a:t> 중복된 값이 존재해서는 안됨</a:t>
            </a:r>
          </a:p>
          <a:p>
            <a:pPr lvl="1" eaLnBrk="1" hangingPunct="1"/>
            <a:endParaRPr lang="en-US" altLang="ko-KR" dirty="0" smtClean="0"/>
          </a:p>
        </p:txBody>
      </p:sp>
      <p:sp>
        <p:nvSpPr>
          <p:cNvPr id="39940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err="1" smtClean="0"/>
              <a:t>무결성</a:t>
            </a:r>
            <a:r>
              <a:rPr lang="ko-KR" altLang="en-US" dirty="0" smtClean="0"/>
              <a:t> 제약조건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fld id="{377489F4-25C0-42B0-AF7B-AF2498C32388}" type="slidenum">
              <a:rPr lang="en-US" altLang="ko-KR" sz="1400" smtClean="0">
                <a:latin typeface="Times New Roman" pitchFamily="18" charset="0"/>
              </a:rPr>
              <a:pPr/>
              <a:t>45</a:t>
            </a:fld>
            <a:endParaRPr lang="en-US" altLang="ko-KR" sz="1400" smtClean="0">
              <a:latin typeface="Times New Roman" pitchFamily="18" charset="0"/>
            </a:endParaRP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기본 키</a:t>
            </a:r>
            <a:r>
              <a:rPr lang="ko-KR" altLang="en-US" dirty="0" smtClean="0"/>
              <a:t>와 </a:t>
            </a:r>
            <a:r>
              <a:rPr lang="ko-KR" altLang="en-US" dirty="0" err="1" smtClean="0"/>
              <a:t>엔티티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무결성</a:t>
            </a:r>
            <a:r>
              <a:rPr lang="ko-KR" altLang="en-US" dirty="0" smtClean="0"/>
              <a:t> 제약조건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(entity integrity constraint)</a:t>
            </a:r>
          </a:p>
          <a:p>
            <a:pPr lvl="1" eaLnBrk="1" hangingPunct="1"/>
            <a:r>
              <a:rPr lang="en-US" altLang="ko-KR" dirty="0" smtClean="0">
                <a:solidFill>
                  <a:srgbClr val="FF0000"/>
                </a:solidFill>
              </a:rPr>
              <a:t>Not NULL</a:t>
            </a:r>
            <a:r>
              <a:rPr lang="en-US" altLang="ko-KR" dirty="0" smtClean="0"/>
              <a:t> :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기본 키를 구성하는 어떤 </a:t>
            </a:r>
            <a:r>
              <a:rPr lang="ko-KR" altLang="en-US" dirty="0" err="1" smtClean="0"/>
              <a:t>애트리뷰트도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널값을</a:t>
            </a:r>
            <a:r>
              <a:rPr lang="ko-KR" altLang="en-US" dirty="0" smtClean="0"/>
              <a:t> 가질 수 없음</a:t>
            </a:r>
          </a:p>
          <a:p>
            <a:pPr lvl="1" eaLnBrk="1" hangingPunct="1"/>
            <a:r>
              <a:rPr lang="en-US" altLang="ko-KR" dirty="0" smtClean="0">
                <a:solidFill>
                  <a:srgbClr val="FF0000"/>
                </a:solidFill>
              </a:rPr>
              <a:t>Unique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기본 키는 유일해야 함</a:t>
            </a:r>
            <a:endParaRPr lang="en-US" altLang="ko-KR" dirty="0" smtClean="0"/>
          </a:p>
          <a:p>
            <a:pPr lvl="1" eaLnBrk="1" hangingPunct="1"/>
            <a:endParaRPr lang="en-US" altLang="ko-KR" dirty="0" smtClean="0"/>
          </a:p>
          <a:p>
            <a:pPr lvl="1" eaLnBrk="1" hangingPunct="1"/>
            <a:endParaRPr lang="en-US" altLang="ko-KR" dirty="0" smtClean="0"/>
          </a:p>
        </p:txBody>
      </p:sp>
      <p:sp>
        <p:nvSpPr>
          <p:cNvPr id="40964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err="1" smtClean="0"/>
              <a:t>무결성</a:t>
            </a:r>
            <a:r>
              <a:rPr lang="ko-KR" altLang="en-US" dirty="0" smtClean="0"/>
              <a:t> 제약조건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fld id="{25B1B58E-73FD-42C3-8AFE-C5E798978663}" type="slidenum">
              <a:rPr lang="en-US" altLang="ko-KR" sz="1400" smtClean="0">
                <a:latin typeface="Times New Roman" pitchFamily="18" charset="0"/>
              </a:rPr>
              <a:pPr/>
              <a:t>46</a:t>
            </a:fld>
            <a:endParaRPr lang="en-US" altLang="ko-KR" sz="1400" smtClean="0">
              <a:latin typeface="Times New Roman" pitchFamily="18" charset="0"/>
            </a:endParaRPr>
          </a:p>
        </p:txBody>
      </p:sp>
      <p:sp>
        <p:nvSpPr>
          <p:cNvPr id="4198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 dirty="0" smtClean="0"/>
              <a:t> </a:t>
            </a:r>
            <a:r>
              <a:rPr lang="ko-KR" altLang="en-US" dirty="0" smtClean="0"/>
              <a:t>외래 키와 참조 </a:t>
            </a:r>
            <a:r>
              <a:rPr lang="ko-KR" altLang="en-US" dirty="0" err="1" smtClean="0"/>
              <a:t>무결성</a:t>
            </a:r>
            <a:r>
              <a:rPr lang="ko-KR" altLang="en-US" dirty="0" smtClean="0"/>
              <a:t> 제약조건</a:t>
            </a:r>
            <a:r>
              <a:rPr lang="en-US" altLang="ko-KR" dirty="0" smtClean="0"/>
              <a:t>(referential integrity constraint)</a:t>
            </a:r>
          </a:p>
          <a:p>
            <a:pPr lvl="1" eaLnBrk="1" hangingPunct="1"/>
            <a:r>
              <a:rPr lang="ko-KR" altLang="en-US" dirty="0" smtClean="0"/>
              <a:t>참조 </a:t>
            </a:r>
            <a:r>
              <a:rPr lang="ko-KR" altLang="en-US" dirty="0" err="1" smtClean="0"/>
              <a:t>무결성</a:t>
            </a:r>
            <a:r>
              <a:rPr lang="ko-KR" altLang="en-US" dirty="0" smtClean="0"/>
              <a:t> 제약조건은 두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연관된 </a:t>
            </a:r>
            <a:r>
              <a:rPr lang="ko-KR" altLang="en-US" dirty="0" err="1" smtClean="0"/>
              <a:t>튜플들</a:t>
            </a:r>
            <a:r>
              <a:rPr lang="ko-KR" altLang="en-US" dirty="0" smtClean="0"/>
              <a:t> 사이의 일관성을 유지하는데 사용</a:t>
            </a:r>
          </a:p>
          <a:p>
            <a:pPr lvl="1"/>
            <a:r>
              <a:rPr lang="ko-KR" altLang="en-US" dirty="0" err="1" smtClean="0"/>
              <a:t>외래키</a:t>
            </a:r>
            <a:r>
              <a:rPr lang="en-US" altLang="ko-KR" dirty="0" smtClean="0"/>
              <a:t>(FK)</a:t>
            </a:r>
            <a:r>
              <a:rPr lang="ko-KR" altLang="en-US" dirty="0" smtClean="0"/>
              <a:t>는 어떤 </a:t>
            </a:r>
            <a:r>
              <a:rPr lang="ko-KR" altLang="en-US" dirty="0" err="1" smtClean="0"/>
              <a:t>릴레이션의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기본키</a:t>
            </a:r>
            <a:r>
              <a:rPr lang="en-US" altLang="ko-KR" dirty="0" smtClean="0"/>
              <a:t>(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PK)</a:t>
            </a:r>
            <a:r>
              <a:rPr lang="ko-KR" altLang="en-US" dirty="0" smtClean="0"/>
              <a:t>이다</a:t>
            </a:r>
            <a:endParaRPr lang="en-US" altLang="ko-KR" dirty="0" smtClean="0"/>
          </a:p>
        </p:txBody>
      </p:sp>
      <p:sp>
        <p:nvSpPr>
          <p:cNvPr id="41988" name="Text Box 15"/>
          <p:cNvSpPr txBox="1">
            <a:spLocks noChangeArrowheads="1"/>
          </p:cNvSpPr>
          <p:nvPr/>
        </p:nvSpPr>
        <p:spPr bwMode="auto">
          <a:xfrm>
            <a:off x="1147763" y="4597401"/>
            <a:ext cx="558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44000" tIns="144000" rIns="144000" bIns="144000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r>
              <a:rPr lang="en-US" altLang="ko-KR"/>
              <a:t>R1</a:t>
            </a:r>
          </a:p>
        </p:txBody>
      </p:sp>
      <p:sp>
        <p:nvSpPr>
          <p:cNvPr id="41989" name="Text Box 16"/>
          <p:cNvSpPr txBox="1">
            <a:spLocks noChangeArrowheads="1"/>
          </p:cNvSpPr>
          <p:nvPr/>
        </p:nvSpPr>
        <p:spPr bwMode="auto">
          <a:xfrm>
            <a:off x="5386388" y="4578351"/>
            <a:ext cx="558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44000" tIns="144000" rIns="144000" bIns="144000">
            <a:spAutoFit/>
          </a:bodyPr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r>
              <a:rPr lang="en-US" altLang="ko-KR"/>
              <a:t>R2</a:t>
            </a:r>
          </a:p>
        </p:txBody>
      </p:sp>
      <p:sp>
        <p:nvSpPr>
          <p:cNvPr id="41990" name="Rectangle 17"/>
          <p:cNvSpPr>
            <a:spLocks noChangeArrowheads="1"/>
          </p:cNvSpPr>
          <p:nvPr/>
        </p:nvSpPr>
        <p:spPr bwMode="auto">
          <a:xfrm>
            <a:off x="1700213" y="5068888"/>
            <a:ext cx="971550" cy="555625"/>
          </a:xfrm>
          <a:prstGeom prst="rect">
            <a:avLst/>
          </a:prstGeom>
          <a:solidFill>
            <a:schemeClr val="accent1"/>
          </a:solidFill>
          <a:ln w="22225" algn="ctr">
            <a:solidFill>
              <a:schemeClr val="accent2"/>
            </a:solidFill>
            <a:miter lim="800000"/>
            <a:headEnd/>
            <a:tailEnd/>
          </a:ln>
        </p:spPr>
        <p:txBody>
          <a:bodyPr lIns="144000" tIns="144000" rIns="144000" bIns="144000" anchor="ctr">
            <a:spAutoFit/>
          </a:bodyPr>
          <a:lstStyle/>
          <a:p>
            <a:r>
              <a:rPr lang="ko-KR" altLang="en-US"/>
              <a:t>기본키</a:t>
            </a:r>
          </a:p>
        </p:txBody>
      </p:sp>
      <p:sp>
        <p:nvSpPr>
          <p:cNvPr id="41991" name="Rectangle 18"/>
          <p:cNvSpPr>
            <a:spLocks noChangeArrowheads="1"/>
          </p:cNvSpPr>
          <p:nvPr/>
        </p:nvSpPr>
        <p:spPr bwMode="auto">
          <a:xfrm>
            <a:off x="1306513" y="5068888"/>
            <a:ext cx="392113" cy="555625"/>
          </a:xfrm>
          <a:prstGeom prst="rect">
            <a:avLst/>
          </a:prstGeom>
          <a:solidFill>
            <a:srgbClr val="66CCFF"/>
          </a:solidFill>
          <a:ln w="22225" algn="ctr">
            <a:solidFill>
              <a:schemeClr val="accent2"/>
            </a:solidFill>
            <a:miter lim="800000"/>
            <a:headEnd/>
            <a:tailEnd/>
          </a:ln>
        </p:spPr>
        <p:txBody>
          <a:bodyPr lIns="144000" tIns="144000" rIns="144000" bIns="144000" anchor="ctr">
            <a:spAutoFit/>
          </a:bodyPr>
          <a:lstStyle/>
          <a:p>
            <a:endParaRPr lang="ko-KR" altLang="ko-KR"/>
          </a:p>
        </p:txBody>
      </p:sp>
      <p:sp>
        <p:nvSpPr>
          <p:cNvPr id="41992" name="Rectangle 19"/>
          <p:cNvSpPr>
            <a:spLocks noChangeArrowheads="1"/>
          </p:cNvSpPr>
          <p:nvPr/>
        </p:nvSpPr>
        <p:spPr bwMode="auto">
          <a:xfrm>
            <a:off x="2673351" y="5068888"/>
            <a:ext cx="1660525" cy="555625"/>
          </a:xfrm>
          <a:prstGeom prst="rect">
            <a:avLst/>
          </a:prstGeom>
          <a:solidFill>
            <a:srgbClr val="66CCFF"/>
          </a:solidFill>
          <a:ln w="22225" algn="ctr">
            <a:solidFill>
              <a:schemeClr val="accent2"/>
            </a:solidFill>
            <a:miter lim="800000"/>
            <a:headEnd/>
            <a:tailEnd/>
          </a:ln>
        </p:spPr>
        <p:txBody>
          <a:bodyPr lIns="144000" tIns="144000" rIns="144000" bIns="144000" anchor="ctr">
            <a:spAutoFit/>
          </a:bodyPr>
          <a:lstStyle/>
          <a:p>
            <a:endParaRPr lang="ko-KR" altLang="ko-KR"/>
          </a:p>
        </p:txBody>
      </p:sp>
      <p:sp>
        <p:nvSpPr>
          <p:cNvPr id="41993" name="Rectangle 20"/>
          <p:cNvSpPr>
            <a:spLocks noChangeArrowheads="1"/>
          </p:cNvSpPr>
          <p:nvPr/>
        </p:nvSpPr>
        <p:spPr bwMode="auto">
          <a:xfrm>
            <a:off x="5859463" y="5010151"/>
            <a:ext cx="971550" cy="555625"/>
          </a:xfrm>
          <a:prstGeom prst="rect">
            <a:avLst/>
          </a:prstGeom>
          <a:solidFill>
            <a:schemeClr val="accent1"/>
          </a:solidFill>
          <a:ln w="22225" algn="ctr">
            <a:solidFill>
              <a:schemeClr val="accent2"/>
            </a:solidFill>
            <a:miter lim="800000"/>
            <a:headEnd/>
            <a:tailEnd/>
          </a:ln>
        </p:spPr>
        <p:txBody>
          <a:bodyPr lIns="144000" tIns="144000" rIns="144000" bIns="144000" anchor="ctr">
            <a:spAutoFit/>
          </a:bodyPr>
          <a:lstStyle/>
          <a:p>
            <a:r>
              <a:rPr lang="ko-KR" altLang="en-US"/>
              <a:t>외래키</a:t>
            </a:r>
          </a:p>
        </p:txBody>
      </p:sp>
      <p:sp>
        <p:nvSpPr>
          <p:cNvPr id="41994" name="Rectangle 21"/>
          <p:cNvSpPr>
            <a:spLocks noChangeArrowheads="1"/>
          </p:cNvSpPr>
          <p:nvPr/>
        </p:nvSpPr>
        <p:spPr bwMode="auto">
          <a:xfrm>
            <a:off x="5465763" y="5010151"/>
            <a:ext cx="392113" cy="555625"/>
          </a:xfrm>
          <a:prstGeom prst="rect">
            <a:avLst/>
          </a:prstGeom>
          <a:solidFill>
            <a:srgbClr val="66CCFF"/>
          </a:solidFill>
          <a:ln w="22225" algn="ctr">
            <a:solidFill>
              <a:schemeClr val="accent2"/>
            </a:solidFill>
            <a:miter lim="800000"/>
            <a:headEnd/>
            <a:tailEnd/>
          </a:ln>
        </p:spPr>
        <p:txBody>
          <a:bodyPr lIns="144000" tIns="144000" rIns="144000" bIns="144000" anchor="ctr">
            <a:spAutoFit/>
          </a:bodyPr>
          <a:lstStyle/>
          <a:p>
            <a:endParaRPr lang="ko-KR" altLang="ko-KR"/>
          </a:p>
        </p:txBody>
      </p:sp>
      <p:sp>
        <p:nvSpPr>
          <p:cNvPr id="41995" name="Rectangle 22"/>
          <p:cNvSpPr>
            <a:spLocks noChangeArrowheads="1"/>
          </p:cNvSpPr>
          <p:nvPr/>
        </p:nvSpPr>
        <p:spPr bwMode="auto">
          <a:xfrm>
            <a:off x="6832601" y="5010151"/>
            <a:ext cx="1660525" cy="555625"/>
          </a:xfrm>
          <a:prstGeom prst="rect">
            <a:avLst/>
          </a:prstGeom>
          <a:solidFill>
            <a:srgbClr val="66CCFF"/>
          </a:solidFill>
          <a:ln w="22225" algn="ctr">
            <a:solidFill>
              <a:schemeClr val="accent2"/>
            </a:solidFill>
            <a:miter lim="800000"/>
            <a:headEnd/>
            <a:tailEnd/>
          </a:ln>
        </p:spPr>
        <p:txBody>
          <a:bodyPr lIns="144000" tIns="144000" rIns="144000" bIns="144000" anchor="ctr">
            <a:spAutoFit/>
          </a:bodyPr>
          <a:lstStyle/>
          <a:p>
            <a:endParaRPr lang="ko-KR" altLang="ko-KR"/>
          </a:p>
        </p:txBody>
      </p:sp>
      <p:cxnSp>
        <p:nvCxnSpPr>
          <p:cNvPr id="41996" name="AutoShape 23"/>
          <p:cNvCxnSpPr>
            <a:cxnSpLocks noChangeShapeType="1"/>
            <a:stCxn id="41993" idx="0"/>
            <a:endCxn id="41990" idx="0"/>
          </p:cNvCxnSpPr>
          <p:nvPr/>
        </p:nvCxnSpPr>
        <p:spPr bwMode="auto">
          <a:xfrm rot="-5400000" flipH="1" flipV="1">
            <a:off x="4236244" y="2948782"/>
            <a:ext cx="58738" cy="4159250"/>
          </a:xfrm>
          <a:prstGeom prst="bentConnector3">
            <a:avLst>
              <a:gd name="adj1" fmla="val -605407"/>
            </a:avLst>
          </a:prstGeom>
          <a:noFill/>
          <a:ln w="22225">
            <a:solidFill>
              <a:srgbClr val="FF33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1997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err="1" smtClean="0"/>
              <a:t>무결성</a:t>
            </a:r>
            <a:r>
              <a:rPr lang="ko-KR" altLang="en-US" dirty="0" smtClean="0"/>
              <a:t> 제약조건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1pPr>
            <a:lvl2pPr marL="742950" indent="-28575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2pPr>
            <a:lvl3pPr marL="11430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3pPr>
            <a:lvl4pPr marL="16002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4pPr>
            <a:lvl5pPr marL="2057400" indent="-228600"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Verdana" pitchFamily="34" charset="0"/>
                <a:ea typeface="HY울릉도M" pitchFamily="18" charset="-127"/>
              </a:defRPr>
            </a:lvl9pPr>
          </a:lstStyle>
          <a:p>
            <a:fld id="{ECF2648D-1718-4ED9-8D10-C252426E204B}" type="slidenum">
              <a:rPr lang="en-US" altLang="ko-KR" sz="1400" smtClean="0">
                <a:latin typeface="Times New Roman" pitchFamily="18" charset="0"/>
              </a:rPr>
              <a:pPr/>
              <a:t>47</a:t>
            </a:fld>
            <a:endParaRPr lang="en-US" altLang="ko-KR" sz="1400" smtClean="0">
              <a:latin typeface="Times New Roman" pitchFamily="18" charset="0"/>
            </a:endParaRPr>
          </a:p>
        </p:txBody>
      </p:sp>
      <p:sp>
        <p:nvSpPr>
          <p:cNvPr id="4301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ko-KR" dirty="0" smtClean="0"/>
              <a:t> </a:t>
            </a:r>
            <a:r>
              <a:rPr lang="ko-KR" altLang="en-US" dirty="0" err="1" smtClean="0"/>
              <a:t>무결성</a:t>
            </a:r>
            <a:r>
              <a:rPr lang="ko-KR" altLang="en-US" dirty="0" smtClean="0"/>
              <a:t> 제약조건의 유지</a:t>
            </a:r>
          </a:p>
          <a:p>
            <a:pPr lvl="1" eaLnBrk="1" hangingPunct="1"/>
            <a:r>
              <a:rPr lang="ko-KR" altLang="en-US" dirty="0" smtClean="0"/>
              <a:t>데이터베이스 변경 시 </a:t>
            </a:r>
            <a:r>
              <a:rPr lang="ko-KR" altLang="en-US" dirty="0" err="1" smtClean="0"/>
              <a:t>무결성</a:t>
            </a:r>
            <a:r>
              <a:rPr lang="ko-KR" altLang="en-US" dirty="0" smtClean="0"/>
              <a:t> 제약조건이 위배될 수 있음</a:t>
            </a:r>
          </a:p>
          <a:p>
            <a:pPr lvl="1" eaLnBrk="1" hangingPunct="1"/>
            <a:r>
              <a:rPr lang="en-US" altLang="ko-KR" dirty="0" smtClean="0"/>
              <a:t>DBMS</a:t>
            </a:r>
            <a:r>
              <a:rPr lang="ko-KR" altLang="en-US" dirty="0" smtClean="0"/>
              <a:t>는 외래 키나 참조된 기본 키 갱신 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참조 </a:t>
            </a:r>
            <a:r>
              <a:rPr lang="ko-KR" altLang="en-US" dirty="0" err="1" smtClean="0"/>
              <a:t>무결성</a:t>
            </a:r>
            <a:r>
              <a:rPr lang="ko-KR" altLang="en-US" dirty="0" smtClean="0"/>
              <a:t> 제약조건이 위배되지 않도록 해야 함</a:t>
            </a:r>
            <a:endParaRPr lang="en-US" altLang="ko-KR" dirty="0" smtClean="0"/>
          </a:p>
          <a:p>
            <a:pPr lvl="1"/>
            <a:r>
              <a:rPr lang="ko-KR" altLang="en-US" dirty="0"/>
              <a:t>참조되는 </a:t>
            </a:r>
            <a:r>
              <a:rPr lang="ko-KR" altLang="en-US" dirty="0" err="1"/>
              <a:t>릴레이션에서</a:t>
            </a:r>
            <a:r>
              <a:rPr lang="ko-KR" altLang="en-US" dirty="0"/>
              <a:t> </a:t>
            </a:r>
            <a:r>
              <a:rPr lang="ko-KR" altLang="en-US" dirty="0" err="1"/>
              <a:t>튜플을</a:t>
            </a:r>
            <a:r>
              <a:rPr lang="ko-KR" altLang="en-US" dirty="0"/>
              <a:t> 삭제하고</a:t>
            </a:r>
            <a:r>
              <a:rPr lang="en-US" altLang="ko-KR" dirty="0"/>
              <a:t>, </a:t>
            </a:r>
            <a:r>
              <a:rPr lang="ko-KR" altLang="en-US" dirty="0"/>
              <a:t>참조하는 </a:t>
            </a:r>
            <a:r>
              <a:rPr lang="ko-KR" altLang="en-US" dirty="0" err="1"/>
              <a:t>릴레이션에서</a:t>
            </a:r>
            <a:r>
              <a:rPr lang="ko-KR" altLang="en-US" dirty="0"/>
              <a:t> 이 </a:t>
            </a:r>
            <a:r>
              <a:rPr lang="ko-KR" altLang="en-US" dirty="0" err="1"/>
              <a:t>튜플을</a:t>
            </a:r>
            <a:r>
              <a:rPr lang="ko-KR" altLang="en-US" dirty="0"/>
              <a:t> 참조하는 </a:t>
            </a:r>
            <a:r>
              <a:rPr lang="ko-KR" altLang="en-US" dirty="0" err="1"/>
              <a:t>튜플들도</a:t>
            </a:r>
            <a:r>
              <a:rPr lang="ko-KR" altLang="en-US" dirty="0"/>
              <a:t> 함께 삭제</a:t>
            </a:r>
          </a:p>
          <a:p>
            <a:pPr lvl="1" eaLnBrk="1" hangingPunct="1"/>
            <a:endParaRPr lang="ko-KR" altLang="en-US" dirty="0" smtClean="0"/>
          </a:p>
          <a:p>
            <a:pPr lvl="1" eaLnBrk="1" hangingPunct="1"/>
            <a:endParaRPr lang="en-US" altLang="ko-KR" dirty="0" smtClean="0"/>
          </a:p>
        </p:txBody>
      </p:sp>
      <p:sp>
        <p:nvSpPr>
          <p:cNvPr id="43012" name="제목 1"/>
          <p:cNvSpPr>
            <a:spLocks noGrp="1"/>
          </p:cNvSpPr>
          <p:nvPr>
            <p:ph type="title"/>
          </p:nvPr>
        </p:nvSpPr>
        <p:spPr>
          <a:xfrm>
            <a:off x="457200" y="112713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ko-KR" altLang="en-US" dirty="0" err="1" smtClean="0"/>
              <a:t>무결성</a:t>
            </a:r>
            <a:r>
              <a:rPr lang="ko-KR" altLang="en-US" dirty="0" smtClean="0"/>
              <a:t> 제약조건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1757</Words>
  <Application>Microsoft Office PowerPoint</Application>
  <PresentationFormat>화면 슬라이드 쇼(4:3)</PresentationFormat>
  <Paragraphs>433</Paragraphs>
  <Slides>47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48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데이터 무결성을 위한 제약조건</vt:lpstr>
      <vt:lpstr>무결성 제약 조건이란?</vt:lpstr>
      <vt:lpstr>2.1 관계 데이터 모델의 개념</vt:lpstr>
      <vt:lpstr>관계 데이터 모델의 개념</vt:lpstr>
      <vt:lpstr>관계 데이터 모델의 개념</vt:lpstr>
      <vt:lpstr>관계 데이터 모델의 개념</vt:lpstr>
      <vt:lpstr>2.1 관계 데이터 모델의 개념</vt:lpstr>
      <vt:lpstr>관계 데이터 모델의 개념</vt:lpstr>
      <vt:lpstr>관계 데이터 모델의 개념</vt:lpstr>
      <vt:lpstr>관계 데이터 모델의 개념</vt:lpstr>
      <vt:lpstr>릴레이션</vt:lpstr>
      <vt:lpstr>릴레이션의 키</vt:lpstr>
      <vt:lpstr>릴레이션의 키</vt:lpstr>
      <vt:lpstr>릴레이션의 키</vt:lpstr>
      <vt:lpstr>릴레이션의 키</vt:lpstr>
      <vt:lpstr>릴레이션의 키</vt:lpstr>
      <vt:lpstr>릴레이션의 키</vt:lpstr>
      <vt:lpstr>릴레이션의 키</vt:lpstr>
      <vt:lpstr>무결성 제약조건</vt:lpstr>
      <vt:lpstr>무결성 제약조건</vt:lpstr>
      <vt:lpstr>무결성 제약조건</vt:lpstr>
      <vt:lpstr>무결성 제약조건</vt:lpstr>
      <vt:lpstr>무결성 제약조건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오라클 1일차</dc:title>
  <dc:creator>SIST</dc:creator>
  <cp:lastModifiedBy>sist</cp:lastModifiedBy>
  <cp:revision>4</cp:revision>
  <dcterms:created xsi:type="dcterms:W3CDTF">2023-11-06T22:42:27Z</dcterms:created>
  <dcterms:modified xsi:type="dcterms:W3CDTF">2026-04-13T08:01:26Z</dcterms:modified>
</cp:coreProperties>
</file>