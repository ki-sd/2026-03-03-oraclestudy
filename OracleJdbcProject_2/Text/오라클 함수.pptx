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ADD78-559B-4102-98C3-2BE6DCF005A9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47891-63C5-4BB6-B7D0-47A3790147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9C31D-1CFC-43F6-AF11-EA1D0FF392B2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634ED-CA56-41E2-8DA4-48DCDE8EFEE7}" type="datetimeFigureOut">
              <a:rPr lang="ko-KR" altLang="en-US" smtClean="0"/>
              <a:pPr/>
              <a:t>2023-11-08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16A09-0B1B-48ED-839B-D2143DF4D0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오라클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일차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8" name="Picture 4" descr="https://t1.daumcdn.net/cfile/tistory/235E0346543E08512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642918"/>
            <a:ext cx="8001056" cy="2905125"/>
          </a:xfrm>
          <a:prstGeom prst="rect">
            <a:avLst/>
          </a:prstGeom>
          <a:noFill/>
        </p:spPr>
      </p:pic>
      <p:pic>
        <p:nvPicPr>
          <p:cNvPr id="6150" name="Picture 6" descr="ì¤ë¼í´ ë¨ì¼í í¨ìì ëí ì´ë¯¸ì§ ê²ìê²°ê³¼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714752"/>
            <a:ext cx="8143932" cy="29289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문자 함수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142984"/>
            <a:ext cx="8072494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숫</a:t>
            </a:r>
            <a:r>
              <a:rPr lang="ko-KR" altLang="en-US" dirty="0"/>
              <a:t>자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142984"/>
            <a:ext cx="8001056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2910" y="3000372"/>
            <a:ext cx="28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날짜 함수</a:t>
            </a:r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429000"/>
            <a:ext cx="8072494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변</a:t>
            </a:r>
            <a:r>
              <a:rPr lang="ko-KR" altLang="en-US" dirty="0"/>
              <a:t>환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142984"/>
            <a:ext cx="55816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786058"/>
            <a:ext cx="778674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42852"/>
            <a:ext cx="7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단일행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함수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64291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변</a:t>
            </a:r>
            <a:r>
              <a:rPr lang="ko-KR" altLang="en-US" dirty="0"/>
              <a:t>환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142984"/>
            <a:ext cx="55816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786058"/>
            <a:ext cx="778674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 smtClean="0"/>
              <a:t>집합 </a:t>
            </a:r>
            <a:r>
              <a:rPr lang="ko-KR" altLang="en-US" b="1" dirty="0"/>
              <a:t>함수</a:t>
            </a:r>
            <a:r>
              <a:rPr lang="en-US" altLang="ko-KR" b="1" dirty="0"/>
              <a:t>(Aggregate Function</a:t>
            </a:r>
            <a:r>
              <a:rPr lang="en-US" altLang="ko-KR" b="1" dirty="0" smtClean="0"/>
              <a:t>)</a:t>
            </a:r>
          </a:p>
          <a:p>
            <a:pPr marL="342900" indent="-342900">
              <a:buAutoNum type="arabicPeriod"/>
            </a:pPr>
            <a:endParaRPr lang="en-US" altLang="ko-KR" b="1" dirty="0"/>
          </a:p>
          <a:p>
            <a:r>
              <a:rPr lang="en-US" altLang="ko-KR" dirty="0" smtClean="0">
                <a:sym typeface="Wingdings" pitchFamily="2" charset="2"/>
              </a:rPr>
              <a:t></a:t>
            </a:r>
            <a:r>
              <a:rPr lang="ko-KR" altLang="en-US" dirty="0" smtClean="0"/>
              <a:t>여러 </a:t>
            </a:r>
            <a:r>
              <a:rPr lang="ko-KR" altLang="en-US" dirty="0"/>
              <a:t>행들의 그룹이 모여서 그룹당 단 하나의 결과를 돌려주는 </a:t>
            </a:r>
            <a:r>
              <a:rPr lang="ko-KR" altLang="en-US" dirty="0" err="1"/>
              <a:t>다중행</a:t>
            </a:r>
            <a:r>
              <a:rPr lang="ko-KR" altLang="en-US" dirty="0"/>
              <a:t> 함수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중 집합 </a:t>
            </a:r>
            <a:r>
              <a:rPr lang="ko-KR" altLang="en-US" dirty="0"/>
              <a:t>함수</a:t>
            </a:r>
            <a:r>
              <a:rPr lang="en-US" altLang="ko-KR" dirty="0"/>
              <a:t>(Aggregate Function)</a:t>
            </a:r>
            <a:r>
              <a:rPr lang="ko-KR" altLang="en-US" dirty="0"/>
              <a:t>의 특성은 다음과 같다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smtClean="0"/>
              <a:t>1) </a:t>
            </a:r>
            <a:r>
              <a:rPr lang="ko-KR" altLang="en-US" dirty="0" smtClean="0"/>
              <a:t>여러 </a:t>
            </a:r>
            <a:r>
              <a:rPr lang="ko-KR" altLang="en-US" dirty="0"/>
              <a:t>행들의 그룹이 모여서 그룹당 단 하나의 결과를 돌려주는 함수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smtClean="0"/>
              <a:t>   GROUP </a:t>
            </a:r>
            <a:r>
              <a:rPr lang="en-US" altLang="ko-KR" dirty="0"/>
              <a:t>BY </a:t>
            </a:r>
            <a:r>
              <a:rPr lang="ko-KR" altLang="en-US" dirty="0"/>
              <a:t>절은 행들을 </a:t>
            </a:r>
            <a:r>
              <a:rPr lang="ko-KR" altLang="en-US" dirty="0" err="1"/>
              <a:t>소그룹화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r>
              <a:rPr lang="en-US" altLang="ko-KR" dirty="0" smtClean="0"/>
              <a:t>      2) SELECT </a:t>
            </a:r>
            <a:r>
              <a:rPr lang="ko-KR" altLang="en-US" dirty="0"/>
              <a:t>절</a:t>
            </a:r>
            <a:r>
              <a:rPr lang="en-US" altLang="ko-KR" dirty="0"/>
              <a:t>, HAVING </a:t>
            </a:r>
            <a:r>
              <a:rPr lang="ko-KR" altLang="en-US" dirty="0"/>
              <a:t>절</a:t>
            </a:r>
            <a:r>
              <a:rPr lang="en-US" altLang="ko-KR" dirty="0"/>
              <a:t>, ORDER BY </a:t>
            </a:r>
            <a:r>
              <a:rPr lang="ko-KR" altLang="en-US" dirty="0"/>
              <a:t>절에 사용할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643182"/>
            <a:ext cx="8072494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집합함수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하나 </a:t>
            </a:r>
            <a:r>
              <a:rPr lang="ko-KR" altLang="en-US" dirty="0"/>
              <a:t>이상의 행을 그룹으로 묶어 연산하여</a:t>
            </a:r>
            <a:r>
              <a:rPr lang="en-US" altLang="ko-KR" dirty="0"/>
              <a:t>, </a:t>
            </a:r>
            <a:r>
              <a:rPr lang="ko-KR" altLang="en-US" dirty="0"/>
              <a:t>하나의 결과를 나타내는 함수이다</a:t>
            </a:r>
            <a:r>
              <a:rPr lang="en-US" altLang="ko-KR" dirty="0"/>
              <a:t>.</a:t>
            </a:r>
          </a:p>
          <a:p>
            <a:endParaRPr lang="en-US" altLang="ko-KR" b="1" dirty="0" smtClean="0"/>
          </a:p>
          <a:p>
            <a:r>
              <a:rPr lang="en-US" altLang="ko-KR" b="1" dirty="0" smtClean="0"/>
              <a:t>1) SUM</a:t>
            </a:r>
            <a:endParaRPr lang="ko-KR" altLang="en-US" dirty="0"/>
          </a:p>
          <a:p>
            <a:pPr lvl="1"/>
            <a:r>
              <a:rPr lang="ko-KR" altLang="en-US" dirty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값들에 대한 총합을 구하는 함수이다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사원의 급여를 출력하되 </a:t>
            </a:r>
            <a:r>
              <a:rPr lang="ko-KR" altLang="en-US" dirty="0" err="1"/>
              <a:t>단일행</a:t>
            </a:r>
            <a:r>
              <a:rPr lang="ko-KR" altLang="en-US" dirty="0"/>
              <a:t> 함수 </a:t>
            </a:r>
            <a:r>
              <a:rPr lang="en-US" altLang="ko-KR" dirty="0"/>
              <a:t>ROUND</a:t>
            </a:r>
            <a:r>
              <a:rPr lang="ko-KR" altLang="en-US" dirty="0"/>
              <a:t>로 </a:t>
            </a:r>
            <a:r>
              <a:rPr lang="ko-KR" altLang="en-US" dirty="0" err="1"/>
              <a:t>천단위</a:t>
            </a:r>
            <a:r>
              <a:rPr lang="ko-KR" altLang="en-US" dirty="0"/>
              <a:t> 이하를 반올림하는 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쿼리문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122" name="Picture 2" descr="https://wikidocs.net/images/page/3941/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928934"/>
            <a:ext cx="7486650" cy="325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집합함수</a:t>
            </a:r>
            <a:endParaRPr lang="en-US" altLang="ko-KR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하나 </a:t>
            </a:r>
            <a:r>
              <a:rPr lang="ko-KR" altLang="en-US" dirty="0"/>
              <a:t>이상의 행을 그룹으로 묶어 연산하여</a:t>
            </a:r>
            <a:r>
              <a:rPr lang="en-US" altLang="ko-KR" dirty="0"/>
              <a:t>, </a:t>
            </a:r>
            <a:r>
              <a:rPr lang="ko-KR" altLang="en-US" dirty="0"/>
              <a:t>하나의 결과를 나타내는 함수이다</a:t>
            </a:r>
            <a:r>
              <a:rPr lang="en-US" altLang="ko-KR" dirty="0"/>
              <a:t>.</a:t>
            </a:r>
          </a:p>
          <a:p>
            <a:endParaRPr lang="en-US" altLang="ko-KR" b="1" dirty="0" smtClean="0"/>
          </a:p>
          <a:p>
            <a:r>
              <a:rPr lang="en-US" altLang="ko-KR" b="1" dirty="0" smtClean="0"/>
              <a:t>1) SUM</a:t>
            </a:r>
            <a:endParaRPr lang="ko-KR" altLang="en-US" dirty="0"/>
          </a:p>
          <a:p>
            <a:pPr lvl="1"/>
            <a:r>
              <a:rPr lang="ko-KR" altLang="en-US" dirty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값들에 대한 총합을 구하는 함수이다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사원의 급여를 출력하되 </a:t>
            </a:r>
            <a:r>
              <a:rPr lang="ko-KR" altLang="en-US" dirty="0" err="1"/>
              <a:t>단일행</a:t>
            </a:r>
            <a:r>
              <a:rPr lang="ko-KR" altLang="en-US" dirty="0"/>
              <a:t> 함수 </a:t>
            </a:r>
            <a:r>
              <a:rPr lang="en-US" altLang="ko-KR" dirty="0"/>
              <a:t>ROUND</a:t>
            </a:r>
            <a:r>
              <a:rPr lang="ko-KR" altLang="en-US" dirty="0"/>
              <a:t>로 </a:t>
            </a:r>
            <a:r>
              <a:rPr lang="ko-KR" altLang="en-US" dirty="0" err="1"/>
              <a:t>천단위</a:t>
            </a:r>
            <a:r>
              <a:rPr lang="ko-KR" altLang="en-US" dirty="0"/>
              <a:t> 이하를 반올림하는 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쿼리문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122" name="Picture 2" descr="https://wikidocs.net/images/page/3941/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928934"/>
            <a:ext cx="7486650" cy="3257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그룹 </a:t>
            </a:r>
            <a:r>
              <a:rPr lang="ko-KR" altLang="en-US" dirty="0"/>
              <a:t>함수를 이용해서 사원의 총 급여를 구하는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6146" name="Picture 2" descr="https://wikidocs.net/images/page/3941/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214554"/>
            <a:ext cx="6172200" cy="2609851"/>
          </a:xfrm>
          <a:prstGeom prst="rect">
            <a:avLst/>
          </a:prstGeom>
          <a:noFill/>
        </p:spPr>
      </p:pic>
      <p:pic>
        <p:nvPicPr>
          <p:cNvPr id="6148" name="Picture 4" descr="https://wikidocs.net/images/page/3941/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895337"/>
            <a:ext cx="7686675" cy="8191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643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AVG</a:t>
            </a:r>
          </a:p>
          <a:p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</a:t>
            </a:r>
            <a:r>
              <a:rPr lang="ko-KR" altLang="en-US" dirty="0" smtClean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값에 대해 평균을 구하는 함수이다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  예</a:t>
            </a:r>
            <a:r>
              <a:rPr lang="en-US" altLang="ko-KR" dirty="0"/>
              <a:t>) </a:t>
            </a:r>
            <a:r>
              <a:rPr lang="ko-KR" altLang="en-US" dirty="0"/>
              <a:t>급여 평균을 구하는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9218" name="Picture 2" descr="https://wikidocs.net/images/page/3941/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824031"/>
            <a:ext cx="6991350" cy="81915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57158" y="3000372"/>
            <a:ext cx="8215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MAX/MIN</a:t>
            </a:r>
          </a:p>
          <a:p>
            <a:r>
              <a:rPr lang="en-US" altLang="ko-KR" dirty="0" smtClean="0"/>
              <a:t>MAX </a:t>
            </a:r>
            <a:r>
              <a:rPr lang="en-US" altLang="ko-KR" dirty="0"/>
              <a:t>: </a:t>
            </a:r>
            <a:r>
              <a:rPr lang="ko-KR" altLang="en-US" dirty="0"/>
              <a:t>지정한 </a:t>
            </a:r>
            <a:r>
              <a:rPr lang="ko-KR" altLang="en-US" dirty="0" err="1"/>
              <a:t>컬럼</a:t>
            </a:r>
            <a:r>
              <a:rPr lang="ko-KR" altLang="en-US" dirty="0"/>
              <a:t> 값 중에서 최대값을 구하는 함수이다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MIN: </a:t>
            </a:r>
            <a:r>
              <a:rPr lang="ko-KR" altLang="en-US" dirty="0"/>
              <a:t>해당 </a:t>
            </a:r>
            <a:r>
              <a:rPr lang="ko-KR" altLang="en-US" dirty="0" err="1"/>
              <a:t>컬럼</a:t>
            </a:r>
            <a:r>
              <a:rPr lang="ko-KR" altLang="en-US" dirty="0"/>
              <a:t> 값들의 최소값을 구하는 함수이다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가장 높은 급여와 가장 낮은 급여를 구하는 </a:t>
            </a:r>
            <a:r>
              <a:rPr lang="ko-KR" altLang="en-US" dirty="0" err="1"/>
              <a:t>쿼리문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9220" name="Picture 4" descr="https://wikidocs.net/images/page/3941/6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4500570"/>
            <a:ext cx="6800850" cy="876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7158" y="285728"/>
            <a:ext cx="82153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COUNT</a:t>
            </a:r>
          </a:p>
          <a:p>
            <a:endParaRPr lang="en-US" altLang="ko-KR" b="1" dirty="0"/>
          </a:p>
          <a:p>
            <a:r>
              <a:rPr lang="ko-KR" altLang="en-US" dirty="0" smtClean="0"/>
              <a:t>테이블에서 </a:t>
            </a:r>
            <a:r>
              <a:rPr lang="ko-KR" altLang="en-US" dirty="0"/>
              <a:t>조건을 만족하는 행위 개수를 반환하는 함수이다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COUNT </a:t>
            </a:r>
            <a:r>
              <a:rPr lang="ko-KR" altLang="en-US" dirty="0"/>
              <a:t>함수에 특정 </a:t>
            </a:r>
            <a:r>
              <a:rPr lang="ko-KR" altLang="en-US" dirty="0" err="1"/>
              <a:t>컬럼을</a:t>
            </a:r>
            <a:r>
              <a:rPr lang="ko-KR" altLang="en-US" dirty="0"/>
              <a:t> 기술하는 경우 해당 </a:t>
            </a:r>
            <a:r>
              <a:rPr lang="ko-KR" altLang="en-US" dirty="0" err="1"/>
              <a:t>컬럼</a:t>
            </a:r>
            <a:r>
              <a:rPr lang="ko-KR" altLang="en-US" dirty="0"/>
              <a:t> 값을 갖고 있는 </a:t>
            </a:r>
            <a:r>
              <a:rPr lang="ko-KR" altLang="en-US" dirty="0" err="1"/>
              <a:t>로우의</a:t>
            </a:r>
            <a:r>
              <a:rPr lang="ko-KR" altLang="en-US" dirty="0"/>
              <a:t> 개수를 계산하여 반환한다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COUNT </a:t>
            </a:r>
            <a:r>
              <a:rPr lang="ko-KR" altLang="en-US" dirty="0"/>
              <a:t>함수는 </a:t>
            </a:r>
            <a:r>
              <a:rPr lang="en-US" altLang="ko-KR" dirty="0"/>
              <a:t>NULL</a:t>
            </a:r>
            <a:r>
              <a:rPr lang="ko-KR" altLang="en-US" dirty="0"/>
              <a:t>값에 대한 개수를 세지 않는다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[SELECT JOB FROM EMP ORDER BY JOB;]</a:t>
            </a:r>
            <a:r>
              <a:rPr lang="ko-KR" altLang="en-US" dirty="0"/>
              <a:t>를 실행하면 같은 내용이 중복되어 있고</a:t>
            </a:r>
            <a:r>
              <a:rPr lang="en-US" altLang="ko-KR" dirty="0"/>
              <a:t>, </a:t>
            </a:r>
            <a:r>
              <a:rPr lang="ko-KR" altLang="en-US" dirty="0"/>
              <a:t>중복된 </a:t>
            </a:r>
            <a:r>
              <a:rPr lang="ko-KR" altLang="en-US" dirty="0" err="1"/>
              <a:t>로우까지</a:t>
            </a:r>
            <a:r>
              <a:rPr lang="ko-KR" altLang="en-US" dirty="0"/>
              <a:t> 카운트 하고 있다는 것을 알 수 있다</a:t>
            </a:r>
            <a:r>
              <a:rPr lang="en-US" altLang="ko-KR" dirty="0"/>
              <a:t>. </a:t>
            </a:r>
            <a:r>
              <a:rPr lang="ko-KR" altLang="en-US" dirty="0" err="1"/>
              <a:t>이럴땐</a:t>
            </a:r>
            <a:r>
              <a:rPr lang="ko-KR" altLang="en-US" dirty="0"/>
              <a:t> </a:t>
            </a:r>
            <a:r>
              <a:rPr lang="ko-KR" altLang="en-US" dirty="0" err="1"/>
              <a:t>중복행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r>
              <a:rPr lang="ko-KR" altLang="en-US" dirty="0" smtClean="0"/>
              <a:t>제거 </a:t>
            </a:r>
            <a:r>
              <a:rPr lang="ko-KR" altLang="en-US" dirty="0"/>
              <a:t>키워드인 </a:t>
            </a:r>
            <a:r>
              <a:rPr lang="en-US" altLang="ko-KR" b="1" dirty="0"/>
              <a:t>DISTINCT</a:t>
            </a:r>
            <a:r>
              <a:rPr lang="ko-KR" altLang="en-US" dirty="0"/>
              <a:t> 함수를 사용하면 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사원 테이블의 사원들 중에서 커미션</a:t>
            </a:r>
            <a:r>
              <a:rPr lang="en-US" altLang="ko-KR" dirty="0"/>
              <a:t>(COMM)</a:t>
            </a:r>
            <a:r>
              <a:rPr lang="ko-KR" altLang="en-US" dirty="0"/>
              <a:t>을 받은 사원의 수를 구하는 쿼리문</a:t>
            </a:r>
          </a:p>
          <a:p>
            <a:endParaRPr lang="ko-KR" altLang="en-US" dirty="0"/>
          </a:p>
        </p:txBody>
      </p:sp>
      <p:pic>
        <p:nvPicPr>
          <p:cNvPr id="13314" name="Picture 2" descr="https://wikidocs.net/images/page/3941/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500570"/>
            <a:ext cx="7858180" cy="19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142852"/>
            <a:ext cx="87868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GROUP BY </a:t>
            </a:r>
            <a:r>
              <a:rPr lang="ko-KR" altLang="en-US" b="1" dirty="0"/>
              <a:t>절</a:t>
            </a:r>
          </a:p>
          <a:p>
            <a:r>
              <a:rPr lang="ko-KR" altLang="en-US" dirty="0" smtClean="0"/>
              <a:t> </a:t>
            </a:r>
            <a:r>
              <a:rPr lang="en-US" altLang="ko-KR" dirty="0" smtClean="0">
                <a:sym typeface="Wingdings" pitchFamily="2" charset="2"/>
              </a:rPr>
              <a:t></a:t>
            </a:r>
            <a:r>
              <a:rPr lang="ko-KR" altLang="en-US" dirty="0" smtClean="0"/>
              <a:t>특정 </a:t>
            </a:r>
            <a:r>
              <a:rPr lang="ko-KR" altLang="en-US" dirty="0" err="1"/>
              <a:t>컬럼을</a:t>
            </a:r>
            <a:r>
              <a:rPr lang="ko-KR" altLang="en-US" dirty="0"/>
              <a:t> 기준으로 그룹화하여 테이블에 존재하는 행들을 그룹별로 구분하기 </a:t>
            </a:r>
            <a:endParaRPr lang="en-US" altLang="ko-KR" dirty="0" smtClean="0"/>
          </a:p>
          <a:p>
            <a:r>
              <a:rPr lang="ko-KR" altLang="en-US" dirty="0" smtClean="0"/>
              <a:t>    위해 </a:t>
            </a:r>
            <a:r>
              <a:rPr lang="ko-KR" altLang="en-US" dirty="0"/>
              <a:t>사용한다</a:t>
            </a:r>
            <a:r>
              <a:rPr lang="en-US" altLang="ko-KR" dirty="0" smtClean="0"/>
              <a:t>. </a:t>
            </a:r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 </a:t>
            </a:r>
            <a:r>
              <a:rPr lang="ko-KR" altLang="en-US" dirty="0" smtClean="0"/>
              <a:t>그룹 </a:t>
            </a:r>
            <a:r>
              <a:rPr lang="ko-KR" altLang="en-US" dirty="0"/>
              <a:t>함수를 쓰되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ko-KR" altLang="en-US" dirty="0" err="1"/>
              <a:t>컬럼값을</a:t>
            </a:r>
            <a:r>
              <a:rPr lang="ko-KR" altLang="en-US" dirty="0"/>
              <a:t> 기준으로 그룹 함수를 적용할지 기술해야 한다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 예</a:t>
            </a:r>
            <a:r>
              <a:rPr lang="en-US" altLang="ko-KR" dirty="0"/>
              <a:t>) </a:t>
            </a:r>
            <a:r>
              <a:rPr lang="ko-KR" altLang="en-US" dirty="0"/>
              <a:t>사원 테이블을 부서 번호로 그룹 짓는 </a:t>
            </a:r>
            <a:r>
              <a:rPr lang="ko-KR" altLang="en-US" dirty="0" err="1"/>
              <a:t>쿼리문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5362" name="Picture 2" descr="https://wikidocs.net/images/page/3942/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000240"/>
            <a:ext cx="6448425" cy="114300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85720" y="3357562"/>
            <a:ext cx="835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소속 부서별 평균 급여를 구하는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15364" name="Picture 4" descr="https://wikidocs.net/images/page/3942/10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3857628"/>
            <a:ext cx="7496175" cy="11049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85720" y="214290"/>
            <a:ext cx="82868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 경우에는 어느 부서의 평균값인지의 정보가 결여되어 의미 있는 정보가 아니다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고로 어떤 부서의 평균인지 알아보기 위해 부서 번호도 </a:t>
            </a:r>
            <a:r>
              <a:rPr lang="en-US" altLang="ko-KR" dirty="0" smtClean="0"/>
              <a:t>SELECT </a:t>
            </a:r>
            <a:r>
              <a:rPr lang="ko-KR" altLang="en-US" dirty="0" smtClean="0"/>
              <a:t>절에 함께 기술해야 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SQL&gt; SELECT DEPTNO, AVG(SAL) FROM EMP GROUP BY DEPTNO; </a:t>
            </a:r>
            <a:endParaRPr lang="ko-KR" altLang="en-US" dirty="0" smtClean="0"/>
          </a:p>
          <a:p>
            <a:endParaRPr lang="ko-KR" altLang="en-US" dirty="0"/>
          </a:p>
        </p:txBody>
      </p:sp>
      <p:pic>
        <p:nvPicPr>
          <p:cNvPr id="17410" name="Picture 2" descr="https://wikidocs.net/images/page/3942/1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071678"/>
            <a:ext cx="7724775" cy="1152526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28596" y="3429000"/>
            <a:ext cx="8143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GROUP BY</a:t>
            </a:r>
            <a:r>
              <a:rPr lang="ko-KR" altLang="en-US" dirty="0"/>
              <a:t>절에 명시하지 않은 </a:t>
            </a:r>
            <a:r>
              <a:rPr lang="ko-KR" altLang="en-US" dirty="0" err="1"/>
              <a:t>컬럼을</a:t>
            </a:r>
            <a:r>
              <a:rPr lang="ko-KR" altLang="en-US" dirty="0"/>
              <a:t> </a:t>
            </a:r>
            <a:r>
              <a:rPr lang="en-US" altLang="ko-KR" dirty="0"/>
              <a:t>SELECT</a:t>
            </a:r>
            <a:r>
              <a:rPr lang="ko-KR" altLang="en-US" dirty="0"/>
              <a:t>절에 사용한 잘못된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17412" name="Picture 4" descr="https://wikidocs.net/images/page/3942/1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4000504"/>
            <a:ext cx="7200900" cy="89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720" y="214290"/>
            <a:ext cx="800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소속 부서별 급여 총액과 평균 급여를 구하는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19458" name="Picture 2" descr="https://wikidocs.net/images/page/3942/1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714356"/>
            <a:ext cx="6877050" cy="112395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285720" y="2071678"/>
            <a:ext cx="678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소속 부서별 최대 급여와 최소 급여를 구하는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19460" name="Picture 4" descr="https://wikidocs.net/images/page/3942/1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2643182"/>
            <a:ext cx="7639050" cy="1171575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28596" y="4143380"/>
            <a:ext cx="764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부서별 사원의 수와 커미션을 받는 사원의 수를 계산하는 </a:t>
            </a:r>
            <a:r>
              <a:rPr lang="ko-KR" altLang="en-US" dirty="0" err="1"/>
              <a:t>쿼리문</a:t>
            </a:r>
            <a:endParaRPr lang="ko-KR" altLang="en-US" dirty="0"/>
          </a:p>
        </p:txBody>
      </p:sp>
      <p:pic>
        <p:nvPicPr>
          <p:cNvPr id="19462" name="Picture 6" descr="https://wikidocs.net/images/page/3942/15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4714884"/>
            <a:ext cx="7477125" cy="1143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5720" y="214290"/>
            <a:ext cx="8501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HAVING </a:t>
            </a:r>
            <a:r>
              <a:rPr lang="ko-KR" altLang="en-US" b="1" dirty="0"/>
              <a:t>절</a:t>
            </a:r>
          </a:p>
          <a:p>
            <a:r>
              <a:rPr lang="en-US" altLang="ko-KR" dirty="0"/>
              <a:t>GROUP BY </a:t>
            </a:r>
            <a:r>
              <a:rPr lang="ko-KR" altLang="en-US" dirty="0"/>
              <a:t>절에 의해 생성된 결과 값 중 원하는 조건에 부합하는 자료만 보고자 할 때 사용한다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21506" name="Picture 2" descr="https://wikidocs.net/images/page/3943/1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214422"/>
            <a:ext cx="8358246" cy="1771651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428596" y="3143248"/>
            <a:ext cx="8215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그룹 지어진 부서별 평균 급여가 </a:t>
            </a:r>
            <a:r>
              <a:rPr lang="en-US" altLang="ko-KR" dirty="0"/>
              <a:t>2000 </a:t>
            </a:r>
            <a:r>
              <a:rPr lang="ko-KR" altLang="en-US" dirty="0"/>
              <a:t>이상인 부서의 번호와 부서별 평균 급여를 출력하는 </a:t>
            </a:r>
            <a:r>
              <a:rPr lang="ko-KR" altLang="en-US" dirty="0" err="1"/>
              <a:t>쿼리문</a:t>
            </a:r>
            <a:endParaRPr lang="ko-KR" altLang="en-US" dirty="0"/>
          </a:p>
          <a:p>
            <a:r>
              <a:rPr lang="en-US" dirty="0"/>
              <a:t>SQL&gt; SELECT DEPTNO, AVG(SAL) FROM EMP GROUP BY DEPTNO;</a:t>
            </a:r>
          </a:p>
          <a:p>
            <a:r>
              <a:rPr lang="en-US" dirty="0"/>
              <a:t>SQL&gt; SELECT DEPTNO, AVG(SAL) FROM EMP GROUP BY DEPTNO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HAVING </a:t>
            </a:r>
            <a:r>
              <a:rPr lang="en-US" dirty="0"/>
              <a:t>AVG(SAL) &gt;= 2000; </a:t>
            </a:r>
          </a:p>
          <a:p>
            <a:endParaRPr lang="ko-KR" altLang="en-US" dirty="0"/>
          </a:p>
        </p:txBody>
      </p:sp>
      <p:pic>
        <p:nvPicPr>
          <p:cNvPr id="21508" name="Picture 4" descr="https://wikidocs.net/images/page/3943/17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4714884"/>
            <a:ext cx="8215370" cy="2038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5720" y="214290"/>
            <a:ext cx="8501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HAVING </a:t>
            </a:r>
            <a:r>
              <a:rPr lang="ko-KR" altLang="en-US" b="1" dirty="0"/>
              <a:t>절</a:t>
            </a:r>
          </a:p>
          <a:p>
            <a:r>
              <a:rPr lang="en-US" altLang="ko-KR" dirty="0"/>
              <a:t>GROUP BY </a:t>
            </a:r>
            <a:r>
              <a:rPr lang="ko-KR" altLang="en-US" dirty="0"/>
              <a:t>절에 의해 생성된 결과 값 중 원하는 조건에 부합하는 자료만 보고자 할 때 사용한다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21506" name="Picture 2" descr="https://wikidocs.net/images/page/3943/16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214422"/>
            <a:ext cx="8358246" cy="1771651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428596" y="3143248"/>
            <a:ext cx="8215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그룹 지어진 부서별 평균 급여가 </a:t>
            </a:r>
            <a:r>
              <a:rPr lang="en-US" altLang="ko-KR" dirty="0"/>
              <a:t>2000 </a:t>
            </a:r>
            <a:r>
              <a:rPr lang="ko-KR" altLang="en-US" dirty="0"/>
              <a:t>이상인 부서의 번호와 부서별 평균 급여를 출력하는 </a:t>
            </a:r>
            <a:r>
              <a:rPr lang="ko-KR" altLang="en-US" dirty="0" err="1"/>
              <a:t>쿼리문</a:t>
            </a:r>
            <a:endParaRPr lang="ko-KR" altLang="en-US" dirty="0"/>
          </a:p>
          <a:p>
            <a:r>
              <a:rPr lang="en-US" dirty="0"/>
              <a:t>SQL&gt; SELECT DEPTNO, AVG(SAL) FROM EMP GROUP BY DEPTNO;</a:t>
            </a:r>
          </a:p>
          <a:p>
            <a:r>
              <a:rPr lang="en-US" dirty="0"/>
              <a:t>SQL&gt; SELECT DEPTNO, AVG(SAL) FROM EMP GROUP BY DEPTNO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HAVING </a:t>
            </a:r>
            <a:r>
              <a:rPr lang="en-US" dirty="0"/>
              <a:t>AVG(SAL) &gt;= 2000; </a:t>
            </a:r>
          </a:p>
          <a:p>
            <a:endParaRPr lang="ko-KR" altLang="en-US" dirty="0"/>
          </a:p>
        </p:txBody>
      </p:sp>
      <p:pic>
        <p:nvPicPr>
          <p:cNvPr id="21508" name="Picture 4" descr="https://wikidocs.net/images/page/3943/17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4714884"/>
            <a:ext cx="8215370" cy="2038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569</Words>
  <Application>Microsoft Office PowerPoint</Application>
  <PresentationFormat>화면 슬라이드 쇼(4:3)</PresentationFormat>
  <Paragraphs>91</Paragraphs>
  <Slides>17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오라클 2일차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오라클 3일차</dc:title>
  <dc:creator>cjw</dc:creator>
  <cp:lastModifiedBy>SIST</cp:lastModifiedBy>
  <cp:revision>4</cp:revision>
  <dcterms:created xsi:type="dcterms:W3CDTF">2018-09-18T23:16:28Z</dcterms:created>
  <dcterms:modified xsi:type="dcterms:W3CDTF">2023-11-07T22:43:14Z</dcterms:modified>
</cp:coreProperties>
</file>